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Delta: context halluc. (lower better)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baseline cot</c:v>
                </c:pt>
                <c:pt idx="1">
                  <c:v>baseline strict cite</c:v>
                </c:pt>
                <c:pt idx="2">
                  <c:v>k10</c:v>
                </c:pt>
                <c:pt idx="3">
                  <c:v>k3</c:v>
                </c:pt>
                <c:pt idx="4">
                  <c:v>k8</c:v>
                </c:pt>
                <c:pt idx="5">
                  <c:v>k8 cot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-0.0222</c:v>
                </c:pt>
                <c:pt idx="3">
                  <c:v>-0.075</c:v>
                </c:pt>
                <c:pt idx="4">
                  <c:v>0.0</c:v>
                </c:pt>
                <c:pt idx="5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Delta: answer correctness (higher better)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baseline cot</c:v>
                </c:pt>
                <c:pt idx="1">
                  <c:v>baseline strict cite</c:v>
                </c:pt>
                <c:pt idx="2">
                  <c:v>k10</c:v>
                </c:pt>
                <c:pt idx="3">
                  <c:v>k3</c:v>
                </c:pt>
                <c:pt idx="4">
                  <c:v>k8</c:v>
                </c:pt>
                <c:pt idx="5">
                  <c:v>k8 cot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-0.0159</c:v>
                </c:pt>
                <c:pt idx="1">
                  <c:v>-0.0241</c:v>
                </c:pt>
                <c:pt idx="2">
                  <c:v>0.0157</c:v>
                </c:pt>
                <c:pt idx="3">
                  <c:v>-0.0252</c:v>
                </c:pt>
                <c:pt idx="4">
                  <c:v>0.0178</c:v>
                </c:pt>
                <c:pt idx="5">
                  <c:v>0.0257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Finance (10-K x2)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Recall@5</c:v>
                </c:pt>
                <c:pt idx="1">
                  <c:v>Context halluc.</c:v>
                </c:pt>
                <c:pt idx="2">
                  <c:v>Answer correct.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0.15</c:v>
                </c:pt>
                <c:pt idx="2">
                  <c:v>0.7169219086183458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FDA labels (x2)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Recall@5</c:v>
                </c:pt>
                <c:pt idx="1">
                  <c:v>Context halluc.</c:v>
                </c:pt>
                <c:pt idx="2">
                  <c:v>Answer correct.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0.6499999999999999</c:v>
                </c:pt>
                <c:pt idx="1">
                  <c:v>0.1</c:v>
                </c:pt>
                <c:pt idx="2">
                  <c:v>0.6681882618022446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>
                <a:solidFill>
                  <a:srgbClr val="1E3A5F"/>
                </a:solidFill>
              </a:defRPr>
            </a:pPr>
            <a:r>
              <a:t>RAG Designs for Fewer Hallucinations:</a:t>
            </a:r>
          </a:p>
          <a:p>
            <a:r>
              <a:t>Finance &amp; Healthcare Documents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[Your Name]  |  [Class]  |  Adviser: [Adviser Name]</a:t>
            </a:r>
          </a:p>
          <a:p>
            <a:r>
              <a:t>Capstone — Finance QA Hallucinations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Talk roadmap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What you will see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900" y="1691640"/>
            <a:ext cx="1874519" cy="2148840"/>
          </a:xfrm>
          <a:prstGeom prst="roundRect">
            <a:avLst/>
          </a:prstGeom>
          <a:solidFill>
            <a:srgbClr val="EBF4FF"/>
          </a:solidFill>
          <a:ln>
            <a:solidFill>
              <a:srgbClr val="2B7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1. Why it matters</a:t>
            </a:r>
          </a:p>
          <a:p>
            <a:pPr>
              <a:defRPr sz="1300" b="0">
                <a:solidFill>
                  <a:srgbClr val="4A5568"/>
                </a:solidFill>
              </a:defRPr>
            </a:pPr>
            <a:r>
              <a:t>Trust + productivity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37460" y="1691640"/>
            <a:ext cx="1874519" cy="2148840"/>
          </a:xfrm>
          <a:prstGeom prst="roundRect">
            <a:avLst/>
          </a:prstGeom>
          <a:solidFill>
            <a:srgbClr val="F0F4F8"/>
          </a:solidFill>
          <a:ln>
            <a:solidFill>
              <a:srgbClr val="2B7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2. Method</a:t>
            </a:r>
          </a:p>
          <a:p>
            <a:pPr>
              <a:defRPr sz="1300" b="0">
                <a:solidFill>
                  <a:srgbClr val="4A5568"/>
                </a:solidFill>
              </a:defRPr>
            </a:pPr>
            <a:r>
              <a:t>Pipeline + controlled experiments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32020" y="1691640"/>
            <a:ext cx="1874519" cy="2148840"/>
          </a:xfrm>
          <a:prstGeom prst="roundRect">
            <a:avLst/>
          </a:prstGeom>
          <a:solidFill>
            <a:srgbClr val="EBF4FF"/>
          </a:solidFill>
          <a:ln>
            <a:solidFill>
              <a:srgbClr val="2B7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3. Data</a:t>
            </a:r>
          </a:p>
          <a:p>
            <a:pPr>
              <a:defRPr sz="1300" b="0">
                <a:solidFill>
                  <a:srgbClr val="4A5568"/>
                </a:solidFill>
              </a:defRPr>
            </a:pPr>
            <a:r>
              <a:t>Charts from 4 real PDF corpora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26579" y="1691640"/>
            <a:ext cx="1874519" cy="2148840"/>
          </a:xfrm>
          <a:prstGeom prst="roundRect">
            <a:avLst/>
          </a:prstGeom>
          <a:solidFill>
            <a:srgbClr val="F0F4F8"/>
          </a:solidFill>
          <a:ln>
            <a:solidFill>
              <a:srgbClr val="2B7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4. Takeaway</a:t>
            </a:r>
          </a:p>
          <a:p>
            <a:pPr>
              <a:defRPr sz="1300" b="0">
                <a:solidFill>
                  <a:srgbClr val="4A5568"/>
                </a:solidFill>
              </a:defRPr>
            </a:pPr>
            <a:r>
              <a:t>No one-size-fits-all RAG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Precision industries need reliable grounded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4A5568"/>
                </a:solidFill>
              </a:defRPr>
            </a:pPr>
            <a:r>
              <a:t>Goal: Compare RAG configurations on real finance + healthcare PDFs.</a:t>
            </a:r>
          </a:p>
          <a:p>
            <a:pPr>
              <a:spcAft>
                <a:spcPts val="600"/>
              </a:spcAft>
              <a:defRPr sz="1700">
                <a:solidFill>
                  <a:srgbClr val="4A5568"/>
                </a:solidFill>
              </a:defRPr>
            </a:pPr>
            <a:r>
              <a:t>Measure hallucination-related failure vs answer quality — same harness, varied designs.</a:t>
            </a:r>
          </a:p>
          <a:p>
            <a:pPr>
              <a:spcAft>
                <a:spcPts val="600"/>
              </a:spcAft>
              <a:defRPr sz="1700">
                <a:solidFill>
                  <a:srgbClr val="4A5568"/>
                </a:solidFill>
              </a:defRPr>
            </a:pPr>
            <a:r>
              <a:t>Outcome: Actionable tradeoffs for teams deploying AI on sensitive 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783080"/>
            <a:ext cx="3886200" cy="1828800"/>
          </a:xfrm>
          <a:prstGeom prst="roundRect">
            <a:avLst/>
          </a:prstGeom>
          <a:solidFill>
            <a:srgbClr val="FFFAEC"/>
          </a:solidFill>
          <a:ln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C05621"/>
                </a:solidFill>
              </a:defRPr>
            </a:pPr>
            <a:r>
              <a:t>Industry signal</a:t>
            </a:r>
          </a:p>
          <a:p>
            <a:r>
              <a:t>(EY)</a:t>
            </a:r>
          </a:p>
          <a:p>
            <a:pPr>
              <a:defRPr sz="1300">
                <a:solidFill>
                  <a:srgbClr val="4A5568"/>
                </a:solidFill>
              </a:defRPr>
            </a:pPr>
            <a:r>
              <a:t>Clients rank hallucinations #1 risk for AI on sensitive data — even when efficiency gains are clear.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Hallucinations persist even with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7863840" cy="1325880"/>
          </a:xfrm>
          <a:prstGeom prst="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E3A5F"/>
                </a:solidFill>
              </a:defRPr>
            </a:pPr>
            <a:r>
              <a:t>Consensus: RAG grounds answers but does not remove unsupported generations.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926080"/>
            <a:ext cx="7863840" cy="1325880"/>
          </a:xfrm>
          <a:prstGeom prst="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E3A5F"/>
                </a:solidFill>
              </a:defRPr>
            </a:pPr>
            <a:r>
              <a:t>Literature: Surveys cover taxonomy, detection (faithfulness judges), mitigation.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526280"/>
            <a:ext cx="7863840" cy="1325880"/>
          </a:xfrm>
          <a:prstGeom prst="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E3A5F"/>
                </a:solidFill>
              </a:defRPr>
            </a:pPr>
            <a:r>
              <a:t>Gap: Less empirical guidance on which RAG knobs work for which document genres.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Implementation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End-to-end evaluation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9516" y="1874519"/>
            <a:ext cx="1417320" cy="777240"/>
          </a:xfrm>
          <a:prstGeom prst="roundRect">
            <a:avLst/>
          </a:prstGeom>
          <a:solidFill>
            <a:srgbClr val="2B7CA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PDF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LlamaParse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35124" y="2153411"/>
            <a:ext cx="128016" cy="219456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1428" y="1874519"/>
            <a:ext cx="1417320" cy="777240"/>
          </a:xfrm>
          <a:prstGeom prst="roundRect">
            <a:avLst/>
          </a:prstGeom>
          <a:solidFill>
            <a:srgbClr val="1E3A5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Chunks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Headers + split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17036" y="2153411"/>
            <a:ext cx="128016" cy="219456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63340" y="1874519"/>
            <a:ext cx="1417320" cy="777240"/>
          </a:xfrm>
          <a:prstGeom prst="roundRect">
            <a:avLst/>
          </a:prstGeom>
          <a:solidFill>
            <a:srgbClr val="2B7CA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Index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Chroma + BM25 + rerank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98948" y="2153411"/>
            <a:ext cx="128016" cy="219456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45252" y="1874519"/>
            <a:ext cx="1417320" cy="777240"/>
          </a:xfrm>
          <a:prstGeom prst="roundRect">
            <a:avLst/>
          </a:prstGeom>
          <a:solidFill>
            <a:srgbClr val="1E3A5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RAG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GPT-4o + cites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80860" y="2153411"/>
            <a:ext cx="128016" cy="219456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27164" y="1874519"/>
            <a:ext cx="1417320" cy="777240"/>
          </a:xfrm>
          <a:prstGeom prst="roundRect">
            <a:avLst/>
          </a:prstGeom>
          <a:solidFill>
            <a:srgbClr val="2B7CA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Eval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Judges + RAGAS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17720"/>
            <a:ext cx="79552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A5568"/>
                </a:solidFill>
              </a:defRPr>
            </a:pPr>
            <a:r>
              <a:t>Tools: LlamaParse, LangChain chunking, Chroma, BGE reranker, OpenAI GPT-4o.</a:t>
            </a:r>
          </a:p>
          <a:p>
            <a:pPr>
              <a:spcAft>
                <a:spcPts val="600"/>
              </a:spcAft>
              <a:defRPr sz="1400">
                <a:solidFill>
                  <a:srgbClr val="4A5568"/>
                </a:solidFill>
              </a:defRPr>
            </a:pPr>
            <a:r>
              <a:t>Metrics: recall &amp; citations, LLM judge (context/claims), RAGAS scores.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Tier A — Cross-corpus change vs baseline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Same gold &amp; chunks; 4 corpora averaged (see CSV for min/max)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82296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806440"/>
            <a:ext cx="8321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A5568"/>
                </a:solidFill>
              </a:defRPr>
            </a:pPr>
            <a:r>
              <a:t>Left bars: lower context-hallucination flag is better. Right bars: higher answer correctness is better.</a:t>
            </a:r>
          </a:p>
          <a:p>
            <a:pPr>
              <a:spcAft>
                <a:spcPts val="600"/>
              </a:spcAft>
              <a:defRPr sz="1100">
                <a:solidFill>
                  <a:srgbClr val="4A5568"/>
                </a:solidFill>
              </a:defRPr>
            </a:pPr>
            <a:r>
              <a:t>k3 best avg drop in hallucination flag; k8+CoT best avg gain in correctness but raises hallucination flag on average.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Tier A — Pooled means (by genre)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FDA labels vs 10-Ks — baseline, k3, k8+CoT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genre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 at 5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context hallucination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answer correctness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fda_label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0.668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fda_label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k3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0.619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fda_label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k8_cot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0.753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finance_10k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0.717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finance_10k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k3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0.716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finance_10k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k8_cot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5568"/>
                          </a:solidFill>
                        </a:defRPr>
                      </a:pPr>
                      <a:r>
                        <a:t>0.684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074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</a:defRPr>
            </a:pPr>
            <a:r>
              <a:t>Finance: stronger recall@5 on these filings. Labels: different error profile — compare presets, not only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Genre contrast (Tier A baseline)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Same pipeline; different documents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34440"/>
          <a:ext cx="82296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897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A5568"/>
                </a:solidFill>
              </a:defRPr>
            </a:pPr>
            <a:r>
              <a:t>Context halluc. = fraction of questions with flagged unsupported content (judge). Lower is better.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Tier B — Chunking presets (separate gold)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Compare within this tier only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07008"/>
          <a:ext cx="83210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genre</a:t>
                      </a:r>
                    </a:p>
                  </a:txBody>
                  <a:tcPr>
                    <a:solidFill>
                      <a:srgbClr val="2B7C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2B7C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context hallucination</a:t>
                      </a:r>
                    </a:p>
                  </a:txBody>
                  <a:tcPr>
                    <a:solidFill>
                      <a:srgbClr val="2B7C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answer correctness</a:t>
                      </a:r>
                    </a:p>
                  </a:txBody>
                  <a:tcPr>
                    <a:solidFill>
                      <a:srgbClr val="2B7C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faithfulness</a:t>
                      </a:r>
                    </a:p>
                  </a:txBody>
                  <a:tcPr>
                    <a:solidFill>
                      <a:srgbClr val="2B7CA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fda_label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coarse_chunks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0.805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fda_label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deep_headers_fine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0.800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fda_label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fine_chunks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0.738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finance_10k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coarse_chunks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0.841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finance_10k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deep_headers_fine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0.721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finance_10k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fine_chunks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0.963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1605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Each preset re-chunks + regenerates Q/A — not comparable to Tier A deltas.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Use for chunking strategy exploration; confirm with larger 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Design takeaway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Tradeoffs, not a single winner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1920240"/>
            <a:ext cx="1828800" cy="1828800"/>
          </a:xfrm>
          <a:prstGeom prst="ellipse">
            <a:avLst/>
          </a:prstGeom>
          <a:solidFill>
            <a:srgbClr val="2B7C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Retrieval depth (k)</a:t>
            </a:r>
          </a:p>
        </p:txBody>
      </p:sp>
      <p:sp>
        <p:nvSpPr>
          <p:cNvPr id="4" name="Oval 3"/>
          <p:cNvSpPr/>
          <p:nvPr/>
        </p:nvSpPr>
        <p:spPr>
          <a:xfrm>
            <a:off x="3474720" y="1920240"/>
            <a:ext cx="1828800" cy="1828800"/>
          </a:xfrm>
          <a:prstGeom prst="ellipse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Prompting (CoT)</a:t>
            </a:r>
          </a:p>
        </p:txBody>
      </p:sp>
      <p:sp>
        <p:nvSpPr>
          <p:cNvPr id="5" name="Oval 4"/>
          <p:cNvSpPr/>
          <p:nvPr/>
        </p:nvSpPr>
        <p:spPr>
          <a:xfrm>
            <a:off x="5852160" y="1920240"/>
            <a:ext cx="1828800" cy="1828800"/>
          </a:xfrm>
          <a:prstGeom prst="ellipse">
            <a:avLst/>
          </a:prstGeom>
          <a:solidFill>
            <a:srgbClr val="276F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Strict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3484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A5568"/>
                </a:solidFill>
              </a:defRPr>
            </a:pPr>
            <a:r>
              <a:t>Choose metrics first: minimize hallucination flag vs maximize correctness vs force abstention.</a:t>
            </a:r>
          </a:p>
          <a:p>
            <a:pPr>
              <a:spcAft>
                <a:spcPts val="600"/>
              </a:spcAft>
              <a:defRPr sz="1500">
                <a:solidFill>
                  <a:srgbClr val="4A5568"/>
                </a:solidFill>
              </a:defRPr>
            </a:pPr>
            <a:r>
              <a:t>Pilot n=10 — directional; scale n for confidence.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4A5568"/>
                </a:solidFill>
              </a:defRPr>
            </a:pPr>
            <a:r>
              <a:t>• n=10 questions / experiment — exploratory.</a:t>
            </a:r>
          </a:p>
          <a:p>
            <a:pPr>
              <a:spcAft>
                <a:spcPts val="600"/>
              </a:spcAft>
              <a:defRPr sz="1700">
                <a:solidFill>
                  <a:srgbClr val="4A5568"/>
                </a:solidFill>
              </a:defRPr>
            </a:pPr>
            <a:r>
              <a:t>• Four PDFs — illustrative genres, not universal finance/healthcare.</a:t>
            </a:r>
          </a:p>
          <a:p>
            <a:pPr>
              <a:spcAft>
                <a:spcPts val="600"/>
              </a:spcAft>
              <a:defRPr sz="1700">
                <a:solidFill>
                  <a:srgbClr val="4A5568"/>
                </a:solidFill>
              </a:defRPr>
            </a:pPr>
            <a:r>
              <a:t>• LLM judges add variance; triangulate with rule-based metrics.</a:t>
            </a:r>
          </a:p>
          <a:p>
            <a:pPr>
              <a:spcAft>
                <a:spcPts val="600"/>
              </a:spcAft>
              <a:defRPr sz="1700">
                <a:solidFill>
                  <a:srgbClr val="4A5568"/>
                </a:solidFill>
              </a:defRPr>
            </a:pPr>
            <a:r>
              <a:t>• Next: larger n, CIs, more rerankers &amp; abstention policies.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 wrap="squar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589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RAG design choices measurably shift grounding vs correctness — differently on 10-Ks vs FDA labels.</a:t>
            </a:r>
          </a:p>
          <a:p>
            <a:pPr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Deliverable: reproducible pipeline + data-driven comparison tables for practitioners.</a:t>
            </a:r>
          </a:p>
          <a:p>
            <a:pPr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