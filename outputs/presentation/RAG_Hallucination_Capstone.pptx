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Comparing RAG System Designs for Hallucination Reduction</a:t>
            </a:r>
          </a:p>
          <a:p>
            <a:r>
              <a:t>in Finance and Healthcare Documents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[Your Name]</a:t>
            </a:r>
          </a:p>
          <a:p>
            <a:r>
              <a:t>[Course / Class]</a:t>
            </a:r>
          </a:p>
          <a:p>
            <a:r>
              <a:t>Adviser: [Adviser Name]</a:t>
            </a:r>
          </a:p>
          <a:p/>
          <a:p>
            <a:r>
              <a:t>Finance QA Hallucinations — 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Topic: Reliable deployment of AI in professional workflows where answers must be precise (finance, healthcare).</a:t>
            </a:r>
          </a:p>
          <a:p>
            <a:pPr>
              <a:defRPr sz="1800"/>
            </a:pPr>
            <a:r>
              <a:t>Problem: Hallucinations remain the main barrier to trust—especially with sensitive or regulated information.</a:t>
            </a:r>
          </a:p>
          <a:p>
            <a:pPr>
              <a:defRPr sz="1800"/>
            </a:pPr>
            <a:r>
              <a:t>Goal: "The goal of my project is to empirically compare RAG system designs and measure which configurations best reduce hallucinations and improve answer quality—across document types representative of finance (10-Ks) and healthcare (FDA drug labels)."</a:t>
            </a:r>
          </a:p>
          <a:p>
            <a:pPr>
              <a:defRPr sz="1800"/>
            </a:pPr>
            <a:r>
              <a:t>Why it matters: Almost every enterprise is adopting AI for productivity; reliability determines whether professionals actually use it.</a:t>
            </a:r>
          </a:p>
          <a:p>
            <a:pPr>
              <a:defRPr sz="1800"/>
            </a:pPr>
            <a:r>
              <a:t>Audience benefit: Teams can prioritize retrieval depth, prompting, citation enforcement, and chunking strategies grounded in measured tradeoffs—not guesswork.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Problem Is Urgent (Industry Perspective)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Internship (EY): Clients consistently rank hallucinations and reliability as top concerns for AI adoption on sensitive data.</a:t>
            </a:r>
          </a:p>
          <a:p>
            <a:pPr>
              <a:defRPr sz="1800"/>
            </a:pPr>
            <a:r>
              <a:t>Interviews with EY tech risk partners: among customer complaints, hallucinations and trust dominate—while benefits (efficiency) are widely understood.</a:t>
            </a:r>
          </a:p>
          <a:p>
            <a:pPr>
              <a:defRPr sz="1800"/>
            </a:pPr>
            <a:r>
              <a:t>Bridge from practice to research: measure hallucination-related failure modes under controlled RAG settings so practitioners can reduce risk while capturing efficiency gains.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Background and Related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Consensus: LLMs can produce fluent but unsupported text; RAG grounds answers in retrieved evidence but does not eliminate hallucinations (retrieval errors, context misuse, parametric knowledge).</a:t>
            </a:r>
          </a:p>
          <a:p>
            <a:pPr>
              <a:defRPr sz="1800"/>
            </a:pPr>
            <a:r>
              <a:t>Surveys &amp; reviews: Recent surveys synthesize hallucination taxonomies, detection (faithfulness judges, consistency checks), and mitigation (RAG, prompting, constrained decoding). Examples: comprehensive LLM hallucination surveys on arXiv; RAG-focused mitigation reviews (e.g., MDPI / similar).</a:t>
            </a:r>
          </a:p>
          <a:p>
            <a:pPr>
              <a:defRPr sz="1800"/>
            </a:pPr>
            <a:r>
              <a:t>Commercial reality: Vendors offer RAG stacks, guardrails, and evaluation—yet optimal design is domain- and corpus-dependent; generic defaults underperform.</a:t>
            </a:r>
          </a:p>
          <a:p>
            <a:pPr>
              <a:defRPr sz="1800"/>
            </a:pPr>
            <a:r>
              <a:t>Gap: Less clear guidance on which RAG knobs (top-k, CoT, strict citations, chunking) trade off grounding vs correctness for regulatory-style prose vs financial filings—this project tests that empirically on real PDF corpora.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 (Key Idea)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Key idea: Hold evaluation methodology fixed; systematically vary RAG design (retrieval breadth, prompts, citation post-processing, chunking presets).</a:t>
            </a:r>
          </a:p>
          <a:p>
            <a:pPr>
              <a:defRPr sz="1800"/>
            </a:pPr>
            <a:r>
              <a:t>Compare outcomes on two genres: SEC-style 10-Ks (Nvidia, JPM) vs FDA drug labels (Humira, Keytruda)—same pipeline, different language and structure.</a:t>
            </a:r>
          </a:p>
          <a:p>
            <a:pPr>
              <a:defRPr sz="1800"/>
            </a:pPr>
            <a:r>
              <a:t>Unique angle: Not only which prompt wins globally, but whether improvements are consistent across industries and where tradeoffs appear (grounding vs correctness).</a:t>
            </a:r>
          </a:p>
          <a:p>
            <a:pPr>
              <a:defRPr sz="1800"/>
            </a:pPr>
            <a:r>
              <a:t>Tier A vs Tier B: Tier A = same chunks/gold (fair A/B for top-k &amp; prompts). Tier B = alternate chunking (separate gold)—reported separately to avoid apples-to-oranges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Ingestion: LlamaParse PDF-to-Markdown; semantic chunking (LangChain splitters) with experiment-specific chunk/header presets.</a:t>
            </a:r>
          </a:p>
          <a:p>
            <a:pPr>
              <a:defRPr sz="1800"/>
            </a:pPr>
            <a:r>
              <a:t>Retrieval &amp; generation: Chroma + embeddings; BM25; cross-encoder reranker (BGE); OpenAI GPT-4o generator with chunk-ID citations.</a:t>
            </a:r>
          </a:p>
          <a:p>
            <a:pPr>
              <a:defRPr sz="1800"/>
            </a:pPr>
            <a:r>
              <a:t>Experiments: baseline (k=5), k=3/8/10, chain-of-thought prompts, strict citation post-processing (force abstain if cites invalid/missing), and chunk ablations.</a:t>
            </a:r>
          </a:p>
          <a:p>
            <a:pPr>
              <a:defRPr sz="1800"/>
            </a:pPr>
            <a:r>
              <a:t>Gold data: Synthetic Q/A from sampled chunks + critique filter; evaluation n=10 questions per run (pilot scale).</a:t>
            </a:r>
          </a:p>
          <a:p>
            <a:pPr>
              <a:defRPr sz="1800"/>
            </a:pPr>
            <a:r>
              <a:t>Metrics: Rule-based (recall@k, citation issues), dedicated LLM judge for context-grounded hallucinations &amp; claim rates, RAGAS (faithfulness, relevancy, correctness).</a:t>
            </a:r>
          </a:p>
          <a:p>
            <a:pPr>
              <a:defRPr sz="1800"/>
            </a:pPr>
            <a:r>
              <a:t>Hardening: Rate-limit retries on OpenAI 429s for long batch runs.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Corpora: 4 PDFs — 2 large 10-Ks, 2 long FDA labels (public regulatory text).</a:t>
            </a:r>
          </a:p>
          <a:p>
            <a:pPr>
              <a:defRPr sz="1800"/>
            </a:pPr>
            <a:r>
              <a:t>Tier A: 7 presets vs shared baseline chunking — delta vs baseline per corpus, then average across corpora.</a:t>
            </a:r>
          </a:p>
          <a:p>
            <a:pPr>
              <a:defRPr sz="1800"/>
            </a:pPr>
            <a:r>
              <a:t>Tier B: 3 chunking presets — separate gold per preset; compare within Tier B and genre pools.</a:t>
            </a:r>
          </a:p>
          <a:p>
            <a:pPr>
              <a:defRPr sz="1800"/>
            </a:pPr>
            <a:r>
              <a:t>Success measures: Lower hallucination indicators where appropriate; higher answer correctness and retrieval of gold evidence; explicit tradeoff stories (e.g., correctness up, grounding unchanged).</a:t>
            </a:r>
          </a:p>
          <a:p>
            <a:pPr>
              <a:defRPr sz="1800"/>
            </a:pPr>
            <a:r>
              <a:t>Caveat: n=10 is adequate for directional patterns and engineering decisions—not for publication-grade significance testing without more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Tier A (Same Gold): Cross-Corpus Averages vs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Largest average reduction in context-grounded hallucination flag vs baseline: k=3 (mean delta roughly -0.08 across four corpora).</a:t>
            </a:r>
          </a:p>
          <a:p>
            <a:pPr>
              <a:defRPr sz="1800"/>
            </a:pPr>
            <a:r>
              <a:t>Largest average gain in answer correctness vs baseline: k8 + CoT (mean delta roughly +0.03)—but also the largest average increase in the hallucination flag vs baseline (~+0.03)—clear tradeoff.</a:t>
            </a:r>
          </a:p>
          <a:p>
            <a:pPr>
              <a:defRPr sz="1800"/>
            </a:pPr>
            <a:r>
              <a:t>Strict-cite post-processing: near-zero average change in context hallucination flag vs baseline in this aggregate; average answer correctness slightly down vs baseline—suggests more abstention/stricter answers at small n.</a:t>
            </a:r>
          </a:p>
          <a:p>
            <a:pPr>
              <a:defRPr sz="1800"/>
            </a:pPr>
            <a:r>
              <a:t>Chain-of-thought (baseline_cot): mixed—small average correctness dip with some runs showing higher faithfulness in finance pool (check per-corpus variance).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Pooled by Domain (Tier A Means)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Finance (2x 10-Ks), pooled: higher recall@5 (~0.85 baseline) vs FDA labels (~0.65 baseline)—retrieval finds gold chunks more often on these filings in this setup.</a:t>
            </a:r>
          </a:p>
          <a:p>
            <a:pPr>
              <a:defRPr sz="1800"/>
            </a:pPr>
            <a:r>
              <a:t>Healthcare labels (2x FDA), pooled: baseline context-hallucination flag ~0.10 mean vs finance ~0.15 (lower is better)—genre differences appear in aggregate (still small n).</a:t>
            </a:r>
          </a:p>
          <a:p>
            <a:pPr>
              <a:defRPr sz="1800"/>
            </a:pPr>
            <a:r>
              <a:t>k=3 on labels: context flag 0.0 pooled vs baseline 0.10—promising directionally; verify stability with larger n.</a:t>
            </a:r>
          </a:p>
          <a:p>
            <a:pPr>
              <a:defRPr sz="1800"/>
            </a:pPr>
            <a:r>
              <a:t>Takeaway: No single winner for both industries; best preset depends on metric priority (grounding vs correctness vs abstention).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Chunking Presets (Tier B) — Reported Separately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Fine / coarse / deep-header chunking each regenerates gold—questions differ from Tier A.</a:t>
            </a:r>
          </a:p>
          <a:p>
            <a:pPr>
              <a:defRPr sz="1800"/>
            </a:pPr>
            <a:r>
              <a:t>Use Tier B to compare chunking strategies within the same genre pools, not as delta-vs-baseline from Tier A.</a:t>
            </a:r>
          </a:p>
          <a:p>
            <a:pPr>
              <a:defRPr sz="1800"/>
            </a:pPr>
            <a:r>
              <a:t>Observed pattern (pooled by genre): finance favors some chunk presets on correctness in this run; label corpora more sensitive—warrants larger-n follow-up.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Small evaluated n (10) per experiment—directional, not definitive.</a:t>
            </a:r>
          </a:p>
          <a:p>
            <a:pPr>
              <a:defRPr sz="1800"/>
            </a:pPr>
            <a:r>
              <a:t>LLM judges and RAGAS add cost and variance; metrics correlate but measure different failure modes.</a:t>
            </a:r>
          </a:p>
          <a:p>
            <a:pPr>
              <a:defRPr sz="1800"/>
            </a:pPr>
            <a:r>
              <a:t>Four documents do not represent all of finance or healthcare—findings are illustrative for regulatory prose vs 10-K structure.</a:t>
            </a:r>
          </a:p>
          <a:p>
            <a:pPr>
              <a:defRPr sz="1800"/>
            </a:pPr>
            <a:r>
              <a:t>Next: increase n, add confidence intervals / bootstrap, test additional rerankers and abstention policies, document-type-specific chunk defaults.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Hallucination-aware RAG is not one-size-fits-all: retrieval depth, prompting, and citation enforcement shift grounding and correctness differently.</a:t>
            </a:r>
          </a:p>
          <a:p>
            <a:pPr>
              <a:defRPr sz="1800"/>
            </a:pPr>
            <a:r>
              <a:t>Empirical comparison on real 10-K and FDA-label text shows measurable genre effects and clear tradeoffs (e.g., k8+CoT vs k3).</a:t>
            </a:r>
          </a:p>
          <a:p>
            <a:pPr>
              <a:defRPr sz="1800"/>
            </a:pPr>
            <a:r>
              <a:t>Practical impact: gives engineers a reproducible evaluation harness and evidence-backed starting points for finance vs healthcare-style documents.</a:t>
            </a:r>
          </a:p>
          <a:p>
            <a:pPr>
              <a:defRPr sz="1800"/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