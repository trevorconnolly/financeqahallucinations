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Δ context halluc. (blue = this metric; lower is better)</c:v>
                </c:pt>
              </c:strCache>
            </c:strRef>
          </c:tx>
          <c:spPr>
            <a:solidFill>
              <a:srgbClr val="1E5A8E"/>
            </a:solidFill>
          </c:spPr>
          <c:dPt>
            <c:idx val="0"/>
            <c:spPr>
              <a:solidFill>
                <a:srgbClr val="1E5A8E"/>
              </a:solidFill>
            </c:spPr>
          </c:dPt>
          <c:dPt>
            <c:idx val="1"/>
            <c:spPr>
              <a:solidFill>
                <a:srgbClr val="1E5A8E"/>
              </a:solidFill>
            </c:spPr>
          </c:dPt>
          <c:dPt>
            <c:idx val="2"/>
            <c:spPr>
              <a:solidFill>
                <a:srgbClr val="1E5A8E"/>
              </a:solidFill>
            </c:spPr>
          </c:dPt>
          <c:dPt>
            <c:idx val="3"/>
            <c:spPr>
              <a:solidFill>
                <a:srgbClr val="1E5A8E"/>
              </a:solidFill>
            </c:spPr>
          </c:dPt>
          <c:dPt>
            <c:idx val="4"/>
            <c:spPr>
              <a:solidFill>
                <a:srgbClr val="1E5A8E"/>
              </a:solidFill>
            </c:spPr>
          </c:dPt>
          <c:dPt>
            <c:idx val="5"/>
            <c:spPr>
              <a:solidFill>
                <a:srgbClr val="1E5A8E"/>
              </a:solidFill>
            </c:spPr>
          </c:dPt>
          <c:cat>
            <c:strRef>
              <c:f>Sheet1!$A$2:$A$7</c:f>
              <c:strCache>
                <c:ptCount val="6"/>
                <c:pt idx="0">
                  <c:v>baseline cot</c:v>
                </c:pt>
                <c:pt idx="1">
                  <c:v>baseline strict cite</c:v>
                </c:pt>
                <c:pt idx="2">
                  <c:v>k10</c:v>
                </c:pt>
                <c:pt idx="3">
                  <c:v>k3</c:v>
                </c:pt>
                <c:pt idx="4">
                  <c:v>k8</c:v>
                </c:pt>
                <c:pt idx="5">
                  <c:v>k8 cot</c:v>
                </c:pt>
              </c:strCache>
            </c:strRef>
          </c:cat>
          <c:val>
            <c:numRef>
              <c:f>Sheet1!$B$2:$B$7</c:f>
              <c:numCache>
                <c:formatCode>General</c:formatCode>
                <c:ptCount val="6"/>
                <c:pt idx="0">
                  <c:v>0.0</c:v>
                </c:pt>
                <c:pt idx="1">
                  <c:v>0.0</c:v>
                </c:pt>
                <c:pt idx="2">
                  <c:v>-0.0222</c:v>
                </c:pt>
                <c:pt idx="3">
                  <c:v>-0.075</c:v>
                </c:pt>
                <c:pt idx="4">
                  <c:v>0.0</c:v>
                </c:pt>
                <c:pt idx="5">
                  <c:v>0.025</c:v>
                </c:pt>
              </c:numCache>
            </c:numRef>
          </c:val>
        </c:ser>
        <c:ser>
          <c:idx val="1"/>
          <c:order val="1"/>
          <c:tx>
            <c:strRef>
              <c:f>Sheet1!$C$1</c:f>
              <c:strCache>
                <c:ptCount val="1"/>
                <c:pt idx="0">
                  <c:v>Δ answer correctness (red = this metric; higher is better)</c:v>
                </c:pt>
              </c:strCache>
            </c:strRef>
          </c:tx>
          <c:spPr>
            <a:solidFill>
              <a:srgbClr val="B91C1C"/>
            </a:solidFill>
          </c:spPr>
          <c:dPt>
            <c:idx val="0"/>
            <c:spPr>
              <a:solidFill>
                <a:srgbClr val="B91C1C"/>
              </a:solidFill>
            </c:spPr>
          </c:dPt>
          <c:dPt>
            <c:idx val="1"/>
            <c:spPr>
              <a:solidFill>
                <a:srgbClr val="B91C1C"/>
              </a:solidFill>
            </c:spPr>
          </c:dPt>
          <c:dPt>
            <c:idx val="2"/>
            <c:spPr>
              <a:solidFill>
                <a:srgbClr val="B91C1C"/>
              </a:solidFill>
            </c:spPr>
          </c:dPt>
          <c:dPt>
            <c:idx val="3"/>
            <c:spPr>
              <a:solidFill>
                <a:srgbClr val="B91C1C"/>
              </a:solidFill>
            </c:spPr>
          </c:dPt>
          <c:dPt>
            <c:idx val="4"/>
            <c:spPr>
              <a:solidFill>
                <a:srgbClr val="B91C1C"/>
              </a:solidFill>
            </c:spPr>
          </c:dPt>
          <c:dPt>
            <c:idx val="5"/>
            <c:spPr>
              <a:solidFill>
                <a:srgbClr val="B91C1C"/>
              </a:solidFill>
            </c:spPr>
          </c:dPt>
          <c:cat>
            <c:strRef>
              <c:f>Sheet1!$A$2:$A$7</c:f>
              <c:strCache>
                <c:ptCount val="6"/>
                <c:pt idx="0">
                  <c:v>baseline cot</c:v>
                </c:pt>
                <c:pt idx="1">
                  <c:v>baseline strict cite</c:v>
                </c:pt>
                <c:pt idx="2">
                  <c:v>k10</c:v>
                </c:pt>
                <c:pt idx="3">
                  <c:v>k3</c:v>
                </c:pt>
                <c:pt idx="4">
                  <c:v>k8</c:v>
                </c:pt>
                <c:pt idx="5">
                  <c:v>k8 cot</c:v>
                </c:pt>
              </c:strCache>
            </c:strRef>
          </c:cat>
          <c:val>
            <c:numRef>
              <c:f>Sheet1!$C$2:$C$7</c:f>
              <c:numCache>
                <c:formatCode>General</c:formatCode>
                <c:ptCount val="6"/>
                <c:pt idx="0">
                  <c:v>-0.0159</c:v>
                </c:pt>
                <c:pt idx="1">
                  <c:v>-0.0241</c:v>
                </c:pt>
                <c:pt idx="2">
                  <c:v>0.0157</c:v>
                </c:pt>
                <c:pt idx="3">
                  <c:v>-0.0252</c:v>
                </c:pt>
                <c:pt idx="4">
                  <c:v>0.0178</c:v>
                </c:pt>
                <c:pt idx="5">
                  <c:v>0.0257</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Finance (10-K x2)</c:v>
                </c:pt>
              </c:strCache>
            </c:strRef>
          </c:tx>
          <c:cat>
            <c:strRef>
              <c:f>Sheet1!$A$2:$A$4</c:f>
              <c:strCache>
                <c:ptCount val="3"/>
                <c:pt idx="0">
                  <c:v>Recall@5</c:v>
                </c:pt>
                <c:pt idx="1">
                  <c:v>Context halluc.</c:v>
                </c:pt>
                <c:pt idx="2">
                  <c:v>Answer correct.</c:v>
                </c:pt>
              </c:strCache>
            </c:strRef>
          </c:cat>
          <c:val>
            <c:numRef>
              <c:f>Sheet1!$B$2:$B$4</c:f>
              <c:numCache>
                <c:formatCode>General</c:formatCode>
                <c:ptCount val="3"/>
                <c:pt idx="0">
                  <c:v>0.85</c:v>
                </c:pt>
                <c:pt idx="1">
                  <c:v>0.15</c:v>
                </c:pt>
                <c:pt idx="2">
                  <c:v>0.7169219086183458</c:v>
                </c:pt>
              </c:numCache>
            </c:numRef>
          </c:val>
        </c:ser>
        <c:ser>
          <c:idx val="1"/>
          <c:order val="1"/>
          <c:tx>
            <c:strRef>
              <c:f>Sheet1!$C$1</c:f>
              <c:strCache>
                <c:ptCount val="1"/>
                <c:pt idx="0">
                  <c:v>FDA labels (x2)</c:v>
                </c:pt>
              </c:strCache>
            </c:strRef>
          </c:tx>
          <c:cat>
            <c:strRef>
              <c:f>Sheet1!$A$2:$A$4</c:f>
              <c:strCache>
                <c:ptCount val="3"/>
                <c:pt idx="0">
                  <c:v>Recall@5</c:v>
                </c:pt>
                <c:pt idx="1">
                  <c:v>Context halluc.</c:v>
                </c:pt>
                <c:pt idx="2">
                  <c:v>Answer correct.</c:v>
                </c:pt>
              </c:strCache>
            </c:strRef>
          </c:cat>
          <c:val>
            <c:numRef>
              <c:f>Sheet1!$C$2:$C$4</c:f>
              <c:numCache>
                <c:formatCode>General</c:formatCode>
                <c:ptCount val="3"/>
                <c:pt idx="0">
                  <c:v>0.6499999999999999</c:v>
                </c:pt>
                <c:pt idx="1">
                  <c:v>0.1</c:v>
                </c:pt>
                <c:pt idx="2">
                  <c:v>0.6681882618022446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ctrTitle"/>
          </p:nvPr>
        </p:nvSpPr>
        <p:spPr/>
        <p:txBody>
          <a:bodyPr/>
          <a:lstStyle/>
          <a:p>
            <a:pPr>
              <a:defRPr sz="3200">
                <a:solidFill>
                  <a:srgbClr val="1E3A5F"/>
                </a:solidFill>
              </a:defRPr>
            </a:pPr>
            <a:r>
              <a:t>RAG Designs for Fewer Hallucinations:</a:t>
            </a:r>
          </a:p>
          <a:p>
            <a:r>
              <a:t>Finance &amp; Healthcare Documents</a:t>
            </a:r>
          </a:p>
        </p:txBody>
      </p:sp>
      <p:sp>
        <p:nvSpPr>
          <p:cNvPr id="3" name="Subtitle 2"/>
          <p:cNvSpPr>
            <a:spLocks noGrp="1"/>
          </p:cNvSpPr>
          <p:nvPr>
            <p:ph type="subTitle" idx="1"/>
          </p:nvPr>
        </p:nvSpPr>
        <p:spPr/>
        <p:txBody>
          <a:bodyPr/>
          <a:lstStyle/>
          <a:p>
            <a:r>
              <a:t>[Your Name]  |  [Class]  |  Adviser: [Adviser Name]</a:t>
            </a:r>
          </a:p>
          <a:p>
            <a:r>
              <a:t>Capstone — Finance QA Hallucinations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Talk roadmap</a:t>
            </a:r>
          </a:p>
          <a:p>
            <a:pPr>
              <a:defRPr sz="1400">
                <a:solidFill>
                  <a:srgbClr val="E2E8F0"/>
                </a:solidFill>
              </a:defRPr>
            </a:pPr>
            <a:r>
              <a:t>What you will see</a:t>
            </a:r>
          </a:p>
        </p:txBody>
      </p:sp>
      <p:sp>
        <p:nvSpPr>
          <p:cNvPr id="3" name="Rounded Rectangle 2"/>
          <p:cNvSpPr/>
          <p:nvPr/>
        </p:nvSpPr>
        <p:spPr>
          <a:xfrm>
            <a:off x="342900" y="1691640"/>
            <a:ext cx="1874519" cy="2148840"/>
          </a:xfrm>
          <a:prstGeom prst="roundRect">
            <a:avLst/>
          </a:prstGeom>
          <a:solidFill>
            <a:srgbClr val="EBF4FF"/>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1. Why it matters</a:t>
            </a:r>
          </a:p>
          <a:p>
            <a:pPr>
              <a:defRPr sz="1300" b="0">
                <a:solidFill>
                  <a:srgbClr val="4A5568"/>
                </a:solidFill>
              </a:defRPr>
            </a:pPr>
            <a:r>
              <a:t>Trust + productivity</a:t>
            </a:r>
          </a:p>
        </p:txBody>
      </p:sp>
      <p:sp>
        <p:nvSpPr>
          <p:cNvPr id="4" name="Rounded Rectangle 3"/>
          <p:cNvSpPr/>
          <p:nvPr/>
        </p:nvSpPr>
        <p:spPr>
          <a:xfrm>
            <a:off x="2537460" y="1691640"/>
            <a:ext cx="1874519" cy="2148840"/>
          </a:xfrm>
          <a:prstGeom prst="roundRect">
            <a:avLst/>
          </a:prstGeom>
          <a:solidFill>
            <a:srgbClr val="F0F4F8"/>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2. Method</a:t>
            </a:r>
          </a:p>
          <a:p>
            <a:pPr>
              <a:defRPr sz="1300" b="0">
                <a:solidFill>
                  <a:srgbClr val="4A5568"/>
                </a:solidFill>
              </a:defRPr>
            </a:pPr>
            <a:r>
              <a:t>Pipeline + controlled experiments</a:t>
            </a:r>
          </a:p>
        </p:txBody>
      </p:sp>
      <p:sp>
        <p:nvSpPr>
          <p:cNvPr id="5" name="Rounded Rectangle 4"/>
          <p:cNvSpPr/>
          <p:nvPr/>
        </p:nvSpPr>
        <p:spPr>
          <a:xfrm>
            <a:off x="4732020" y="1691640"/>
            <a:ext cx="1874519" cy="2148840"/>
          </a:xfrm>
          <a:prstGeom prst="roundRect">
            <a:avLst/>
          </a:prstGeom>
          <a:solidFill>
            <a:srgbClr val="EBF4FF"/>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3. Data</a:t>
            </a:r>
          </a:p>
          <a:p>
            <a:pPr>
              <a:defRPr sz="1300" b="0">
                <a:solidFill>
                  <a:srgbClr val="4A5568"/>
                </a:solidFill>
              </a:defRPr>
            </a:pPr>
            <a:r>
              <a:t>Charts from 4 real PDF corpora</a:t>
            </a:r>
          </a:p>
        </p:txBody>
      </p:sp>
      <p:sp>
        <p:nvSpPr>
          <p:cNvPr id="6" name="Rounded Rectangle 5"/>
          <p:cNvSpPr/>
          <p:nvPr/>
        </p:nvSpPr>
        <p:spPr>
          <a:xfrm>
            <a:off x="6926579" y="1691640"/>
            <a:ext cx="1874519" cy="2148840"/>
          </a:xfrm>
          <a:prstGeom prst="roundRect">
            <a:avLst/>
          </a:prstGeom>
          <a:solidFill>
            <a:srgbClr val="F0F4F8"/>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4. Takeaway</a:t>
            </a:r>
          </a:p>
          <a:p>
            <a:pPr>
              <a:defRPr sz="1300" b="0">
                <a:solidFill>
                  <a:srgbClr val="4A5568"/>
                </a:solidFill>
              </a:defRPr>
            </a:pPr>
            <a:r>
              <a:t>No one-size-fits-all RAG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Motivation &amp; goal</a:t>
            </a:r>
          </a:p>
          <a:p>
            <a:pPr>
              <a:defRPr sz="1400">
                <a:solidFill>
                  <a:srgbClr val="E2E8F0"/>
                </a:solidFill>
              </a:defRPr>
            </a:pPr>
            <a:r>
              <a:t>Industry-relevant RAG for finance &amp; healthcare text</a:t>
            </a:r>
          </a:p>
        </p:txBody>
      </p:sp>
      <p:sp>
        <p:nvSpPr>
          <p:cNvPr id="3" name="TextBox 2"/>
          <p:cNvSpPr txBox="1"/>
          <p:nvPr/>
        </p:nvSpPr>
        <p:spPr>
          <a:xfrm>
            <a:off x="594360" y="1207008"/>
            <a:ext cx="4892040" cy="3063240"/>
          </a:xfrm>
          <a:prstGeom prst="rect">
            <a:avLst/>
          </a:prstGeom>
          <a:noFill/>
        </p:spPr>
        <p:txBody>
          <a:bodyPr wrap="square">
            <a:spAutoFit/>
          </a:bodyPr>
          <a:lstStyle/>
          <a:p>
            <a:pPr>
              <a:spcAft>
                <a:spcPts val="600"/>
              </a:spcAft>
              <a:defRPr sz="1400">
                <a:solidFill>
                  <a:srgbClr val="4A5568"/>
                </a:solidFill>
              </a:defRPr>
            </a:pPr>
            <a:r>
              <a:t>Professionals are adopting AI for productivity, but in finance and healthcare answers must be precise and auditable.</a:t>
            </a:r>
          </a:p>
          <a:p>
            <a:pPr>
              <a:spcAft>
                <a:spcPts val="600"/>
              </a:spcAft>
              <a:defRPr sz="1400">
                <a:solidFill>
                  <a:srgbClr val="4A5568"/>
                </a:solidFill>
              </a:defRPr>
            </a:pPr>
            <a:r>
              <a:t>Hallucinations are the main blocker to trust—especially when data is sensitive or regulated.</a:t>
            </a:r>
          </a:p>
          <a:p>
            <a:pPr>
              <a:spcAft>
                <a:spcPts val="600"/>
              </a:spcAft>
              <a:defRPr sz="1400">
                <a:solidFill>
                  <a:srgbClr val="4A5568"/>
                </a:solidFill>
              </a:defRPr>
            </a:pPr>
            <a:r>
              <a:t>Goal of this project: empirically compare RAG system designs (retrieval, prompting, citations, chunking) and measure which configurations best reduce hallucination-style failures while preserving answer quality.</a:t>
            </a:r>
          </a:p>
          <a:p>
            <a:pPr>
              <a:spcAft>
                <a:spcPts val="600"/>
              </a:spcAft>
              <a:defRPr sz="1400">
                <a:solidFill>
                  <a:srgbClr val="4A5568"/>
                </a:solidFill>
              </a:defRPr>
            </a:pPr>
            <a:r>
              <a:t>I also ask whether certain designs work better with different document types (e.g., SEC filings vs FDA labels) so teams can tune RAG with evidence—not guesswork.</a:t>
            </a:r>
          </a:p>
        </p:txBody>
      </p:sp>
      <p:sp>
        <p:nvSpPr>
          <p:cNvPr id="4" name="Rounded Rectangle 3"/>
          <p:cNvSpPr/>
          <p:nvPr/>
        </p:nvSpPr>
        <p:spPr>
          <a:xfrm>
            <a:off x="5532120" y="1207008"/>
            <a:ext cx="3063240" cy="3063240"/>
          </a:xfrm>
          <a:prstGeom prst="roundRect">
            <a:avLst/>
          </a:prstGeom>
          <a:solidFill>
            <a:srgbClr val="FFFAEC"/>
          </a:solidFill>
          <a:ln>
            <a:solidFill>
              <a:srgbClr val="C0562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defRPr b="1" sz="1300">
                <a:solidFill>
                  <a:srgbClr val="C05621"/>
                </a:solidFill>
              </a:defRPr>
            </a:pPr>
            <a:r>
              <a:t>Industry perspective (EY)</a:t>
            </a:r>
          </a:p>
          <a:p>
            <a:pPr>
              <a:spcAft>
                <a:spcPts val="400"/>
              </a:spcAft>
              <a:defRPr sz="1100">
                <a:solidFill>
                  <a:srgbClr val="4A5568"/>
                </a:solidFill>
              </a:defRPr>
            </a:pPr>
            <a:r>
              <a:t>AI &amp; data technology consulting (EY): client concern about hallucinations and reliability on sensitive workloads.</a:t>
            </a:r>
          </a:p>
          <a:p>
            <a:pPr>
              <a:spcAft>
                <a:spcPts val="400"/>
              </a:spcAft>
              <a:defRPr sz="1100">
                <a:solidFill>
                  <a:srgbClr val="4A5568"/>
                </a:solidFill>
              </a:defRPr>
            </a:pPr>
            <a:r>
              <a:t>Interviews with tech risk partners: among customer complaints, trust and hallucinations rank at the top—even when efficiency benefits are clear.</a:t>
            </a:r>
          </a:p>
          <a:p>
            <a:pPr>
              <a:spcAft>
                <a:spcPts val="400"/>
              </a:spcAft>
              <a:defRPr sz="1100">
                <a:solidFill>
                  <a:srgbClr val="4A5568"/>
                </a:solidFill>
              </a:defRPr>
            </a:pPr>
            <a:r>
              <a:t>This work connects that practitioner concern to a reproducible evaluation harness.</a:t>
            </a:r>
          </a:p>
        </p:txBody>
      </p:sp>
      <p:sp>
        <p:nvSpPr>
          <p:cNvPr id="5" name="TextBox 4"/>
          <p:cNvSpPr txBox="1"/>
          <p:nvPr/>
        </p:nvSpPr>
        <p:spPr>
          <a:xfrm>
            <a:off x="594360" y="4434840"/>
            <a:ext cx="8001000" cy="2148840"/>
          </a:xfrm>
          <a:prstGeom prst="rect">
            <a:avLst/>
          </a:prstGeom>
          <a:noFill/>
        </p:spPr>
        <p:txBody>
          <a:bodyPr wrap="square">
            <a:spAutoFit/>
          </a:bodyPr>
          <a:lstStyle/>
          <a:p>
            <a:pPr>
              <a:spcAft>
                <a:spcPts val="600"/>
              </a:spcAft>
              <a:defRPr sz="1300">
                <a:solidFill>
                  <a:srgbClr val="4A5568"/>
                </a:solidFill>
              </a:defRPr>
            </a:pPr>
            <a:r>
              <a:t>Who benefits: any organization deploying RAG on dense technical prose—risk, compliance, clinical ops, IR, research analysts.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Background &amp; related work</a:t>
            </a:r>
          </a:p>
          <a:p>
            <a:pPr>
              <a:defRPr sz="1400">
                <a:solidFill>
                  <a:srgbClr val="E2E8F0"/>
                </a:solidFill>
              </a:defRPr>
            </a:pPr>
            <a:r>
              <a:t>Where NLP consensus stands</a:t>
            </a:r>
          </a:p>
        </p:txBody>
      </p:sp>
      <p:sp>
        <p:nvSpPr>
          <p:cNvPr id="3" name="TextBox 2"/>
          <p:cNvSpPr txBox="1"/>
          <p:nvPr/>
        </p:nvSpPr>
        <p:spPr>
          <a:xfrm>
            <a:off x="594360" y="1188720"/>
            <a:ext cx="8001000" cy="5212080"/>
          </a:xfrm>
          <a:prstGeom prst="rect">
            <a:avLst/>
          </a:prstGeom>
          <a:noFill/>
        </p:spPr>
        <p:txBody>
          <a:bodyPr wrap="square">
            <a:spAutoFit/>
          </a:bodyPr>
          <a:lstStyle/>
          <a:p>
            <a:pPr>
              <a:spcAft>
                <a:spcPts val="600"/>
              </a:spcAft>
              <a:defRPr sz="1400">
                <a:solidFill>
                  <a:srgbClr val="4A5568"/>
                </a:solidFill>
              </a:defRPr>
            </a:pPr>
            <a:r>
              <a:t>Consensus: LLMs can sound authoritative while stating content not supported by evidence. Retrieval-Augmented Generation (RAG) grounds answers in retrieved passages and usually reduces—but does not remove—unsupported or conflicting outputs.</a:t>
            </a:r>
          </a:p>
          <a:p>
            <a:pPr>
              <a:spcAft>
                <a:spcPts val="600"/>
              </a:spcAft>
              <a:defRPr sz="1400">
                <a:solidFill>
                  <a:srgbClr val="4A5568"/>
                </a:solidFill>
              </a:defRPr>
            </a:pPr>
            <a:r>
              <a:t>Research surveys (e.g., recent arXiv surveys on LLM hallucinations; RAG mitigation reviews) organize causes: bad retrieval, context overload, parametric knowledge overriding evidence, and evaluation gaps.</a:t>
            </a:r>
          </a:p>
          <a:p>
            <a:pPr>
              <a:spcAft>
                <a:spcPts val="600"/>
              </a:spcAft>
              <a:defRPr sz="1400">
                <a:solidFill>
                  <a:srgbClr val="4A5568"/>
                </a:solidFill>
              </a:defRPr>
            </a:pPr>
            <a:r>
              <a:t>Industry products: many vendors offer RAG stacks, guardrails, and observability—yet defaults are often tuned for generic chat, not long regulatory PDFs or filings.</a:t>
            </a:r>
          </a:p>
          <a:p>
            <a:pPr>
              <a:spcAft>
                <a:spcPts val="600"/>
              </a:spcAft>
              <a:defRPr sz="1400">
                <a:solidFill>
                  <a:srgbClr val="4A5568"/>
                </a:solidFill>
              </a:defRPr>
            </a:pPr>
            <a:r>
              <a:t>Gap this project fills: controlled comparison of concrete RAG knobs on real finance vs healthcare-style documents, with multi-metric evaluation (grounding judges + automated scores)—not only a single accuracy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Implementation</a:t>
            </a:r>
          </a:p>
          <a:p>
            <a:pPr>
              <a:defRPr sz="1400">
                <a:solidFill>
                  <a:srgbClr val="E2E8F0"/>
                </a:solidFill>
              </a:defRPr>
            </a:pPr>
            <a:r>
              <a:t>Pipeline, experiments, and evaluation stack</a:t>
            </a:r>
          </a:p>
        </p:txBody>
      </p:sp>
      <p:sp>
        <p:nvSpPr>
          <p:cNvPr id="3" name="Rounded Rectangle 2"/>
          <p:cNvSpPr/>
          <p:nvPr/>
        </p:nvSpPr>
        <p:spPr>
          <a:xfrm>
            <a:off x="699516"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PDF</a:t>
            </a:r>
          </a:p>
          <a:p>
            <a:pPr algn="ctr">
              <a:defRPr sz="1000">
                <a:solidFill>
                  <a:srgbClr val="E2E8F0"/>
                </a:solidFill>
              </a:defRPr>
            </a:pPr>
            <a:r>
              <a:t>LlamaParse</a:t>
            </a:r>
          </a:p>
        </p:txBody>
      </p:sp>
      <p:sp>
        <p:nvSpPr>
          <p:cNvPr id="4" name="Right Arrow 3"/>
          <p:cNvSpPr/>
          <p:nvPr/>
        </p:nvSpPr>
        <p:spPr>
          <a:xfrm>
            <a:off x="2135124"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81428" y="1874519"/>
            <a:ext cx="1417320" cy="777240"/>
          </a:xfrm>
          <a:prstGeom prst="roundRect">
            <a:avLst/>
          </a:prstGeom>
          <a:solidFill>
            <a:srgbClr val="1E3A5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Chunks</a:t>
            </a:r>
          </a:p>
          <a:p>
            <a:pPr algn="ctr">
              <a:defRPr sz="1000">
                <a:solidFill>
                  <a:srgbClr val="E2E8F0"/>
                </a:solidFill>
              </a:defRPr>
            </a:pPr>
            <a:r>
              <a:t>Headers + split</a:t>
            </a:r>
          </a:p>
        </p:txBody>
      </p:sp>
      <p:sp>
        <p:nvSpPr>
          <p:cNvPr id="6" name="Right Arrow 5"/>
          <p:cNvSpPr/>
          <p:nvPr/>
        </p:nvSpPr>
        <p:spPr>
          <a:xfrm>
            <a:off x="3717036"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63340"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Index</a:t>
            </a:r>
          </a:p>
          <a:p>
            <a:pPr algn="ctr">
              <a:defRPr sz="1000">
                <a:solidFill>
                  <a:srgbClr val="E2E8F0"/>
                </a:solidFill>
              </a:defRPr>
            </a:pPr>
            <a:r>
              <a:t>Chroma + BM25 + rerank</a:t>
            </a:r>
          </a:p>
        </p:txBody>
      </p:sp>
      <p:sp>
        <p:nvSpPr>
          <p:cNvPr id="8" name="Right Arrow 7"/>
          <p:cNvSpPr/>
          <p:nvPr/>
        </p:nvSpPr>
        <p:spPr>
          <a:xfrm>
            <a:off x="5298948"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45252" y="1874519"/>
            <a:ext cx="1417320" cy="777240"/>
          </a:xfrm>
          <a:prstGeom prst="roundRect">
            <a:avLst/>
          </a:prstGeom>
          <a:solidFill>
            <a:srgbClr val="1E3A5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RAG</a:t>
            </a:r>
          </a:p>
          <a:p>
            <a:pPr algn="ctr">
              <a:defRPr sz="1000">
                <a:solidFill>
                  <a:srgbClr val="E2E8F0"/>
                </a:solidFill>
              </a:defRPr>
            </a:pPr>
            <a:r>
              <a:t>GPT-4o + cites</a:t>
            </a:r>
          </a:p>
        </p:txBody>
      </p:sp>
      <p:sp>
        <p:nvSpPr>
          <p:cNvPr id="10" name="Right Arrow 9"/>
          <p:cNvSpPr/>
          <p:nvPr/>
        </p:nvSpPr>
        <p:spPr>
          <a:xfrm>
            <a:off x="6880860"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27164"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Eval</a:t>
            </a:r>
          </a:p>
          <a:p>
            <a:pPr algn="ctr">
              <a:defRPr sz="1000">
                <a:solidFill>
                  <a:srgbClr val="E2E8F0"/>
                </a:solidFill>
              </a:defRPr>
            </a:pPr>
            <a:r>
              <a:t>Judges + RAGAS</a:t>
            </a:r>
          </a:p>
        </p:txBody>
      </p:sp>
      <p:sp>
        <p:nvSpPr>
          <p:cNvPr id="12" name="TextBox 11"/>
          <p:cNvSpPr txBox="1"/>
          <p:nvPr/>
        </p:nvSpPr>
        <p:spPr>
          <a:xfrm>
            <a:off x="548640" y="4526280"/>
            <a:ext cx="8092440" cy="2148840"/>
          </a:xfrm>
          <a:prstGeom prst="rect">
            <a:avLst/>
          </a:prstGeom>
          <a:noFill/>
        </p:spPr>
        <p:txBody>
          <a:bodyPr wrap="square">
            <a:spAutoFit/>
          </a:bodyPr>
          <a:lstStyle/>
          <a:p>
            <a:pPr>
              <a:spcAft>
                <a:spcPts val="600"/>
              </a:spcAft>
              <a:defRPr sz="1200">
                <a:solidFill>
                  <a:srgbClr val="4A5568"/>
                </a:solidFill>
              </a:defRPr>
            </a:pPr>
            <a:r>
              <a:t>Ingestion: LlamaParse converts PDFs to Markdown; LangChain splits on headings + fixed window size (preset-specific for chunk ablations).</a:t>
            </a:r>
          </a:p>
          <a:p>
            <a:pPr>
              <a:spcAft>
                <a:spcPts val="600"/>
              </a:spcAft>
              <a:defRPr sz="1200">
                <a:solidFill>
                  <a:srgbClr val="4A5568"/>
                </a:solidFill>
              </a:defRPr>
            </a:pPr>
            <a:r>
              <a:t>Retrieval: vector store (Chroma) + BM25 + cross-encoder rerank (BGE). Generation: GPT-4o with mandatory chunk-ID citations; optional strict post-process (replace answer with “Insufficient Information.” if cites are invalid or missing).</a:t>
            </a:r>
          </a:p>
          <a:p>
            <a:pPr>
              <a:spcAft>
                <a:spcPts val="600"/>
              </a:spcAft>
              <a:defRPr sz="1200">
                <a:solidFill>
                  <a:srgbClr val="4A5568"/>
                </a:solidFill>
              </a:defRPr>
            </a:pPr>
            <a:r>
              <a:t>Gold questions: synthetic Q/A from sampled chunks + critique filter. Experiments: baseline (k=5), k∈{3,8,10}, chain-of-thought prompt, strict-cite, k8+CoT; Tier B varies chunking presets with regenerated gold.</a:t>
            </a:r>
          </a:p>
          <a:p>
            <a:pPr>
              <a:spcAft>
                <a:spcPts val="600"/>
              </a:spcAft>
              <a:defRPr sz="1200">
                <a:solidFill>
                  <a:srgbClr val="4A5568"/>
                </a:solidFill>
              </a:defRPr>
            </a:pPr>
            <a:r>
              <a:t>Evaluation: n=10 questions per run in this study; rule metrics (recall@k, citation checks), dedicated LLM judge for context-grounded hallucinations &amp; claim rates, RAGAS (faithfulness, relevancy, correctness).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Results — what you are about to see</a:t>
            </a:r>
          </a:p>
          <a:p>
            <a:pPr>
              <a:defRPr sz="1400">
                <a:solidFill>
                  <a:srgbClr val="E2E8F0"/>
                </a:solidFill>
              </a:defRPr>
            </a:pPr>
            <a:r>
              <a:t>How experiments &amp; tiers are defined</a:t>
            </a:r>
          </a:p>
        </p:txBody>
      </p:sp>
      <p:sp>
        <p:nvSpPr>
          <p:cNvPr id="3" name="TextBox 2"/>
          <p:cNvSpPr txBox="1"/>
          <p:nvPr/>
        </p:nvSpPr>
        <p:spPr>
          <a:xfrm>
            <a:off x="594360" y="1170432"/>
            <a:ext cx="8001000" cy="5257800"/>
          </a:xfrm>
          <a:prstGeom prst="rect">
            <a:avLst/>
          </a:prstGeom>
          <a:noFill/>
        </p:spPr>
        <p:txBody>
          <a:bodyPr wrap="square">
            <a:spAutoFit/>
          </a:bodyPr>
          <a:lstStyle/>
          <a:p>
            <a:pPr>
              <a:spcAft>
                <a:spcPts val="600"/>
              </a:spcAft>
              <a:defRPr sz="1400">
                <a:solidFill>
                  <a:srgbClr val="4A5568"/>
                </a:solidFill>
              </a:defRPr>
            </a:pPr>
            <a:r>
              <a:t>Data: four public PDFs — two SEC-style 10-Ks and two FDA drug labels — same code path, different corpora.</a:t>
            </a:r>
          </a:p>
          <a:p>
            <a:pPr>
              <a:spcAft>
                <a:spcPts val="600"/>
              </a:spcAft>
              <a:defRPr sz="1400">
                <a:solidFill>
                  <a:srgbClr val="4A5568"/>
                </a:solidFill>
              </a:defRPr>
            </a:pPr>
            <a:r>
              <a:t>Tier A (same chunking &amp; gold): fair comparison of presets against baseline—same 10 evaluation questions and gold chunk IDs. Includes baseline, top-k variants, CoT, strict citations, k8+CoT.</a:t>
            </a:r>
          </a:p>
          <a:p>
            <a:pPr>
              <a:spcAft>
                <a:spcPts val="600"/>
              </a:spcAft>
              <a:defRPr sz="1400">
                <a:solidFill>
                  <a:srgbClr val="4A5568"/>
                </a:solidFill>
              </a:defRPr>
            </a:pPr>
            <a:r>
              <a:t>Tier B (chunking ablations): fine / coarse / deep-header presets each rebuild the corpus and regenerate gold — not the same questions as Tier A. Interpret Tier B as “alternative chunking strategies,” not as Δ vs Tier A baseline.</a:t>
            </a:r>
          </a:p>
          <a:p>
            <a:pPr>
              <a:spcAft>
                <a:spcPts val="600"/>
              </a:spcAft>
              <a:defRPr sz="1400">
                <a:solidFill>
                  <a:srgbClr val="4A5568"/>
                </a:solidFill>
              </a:defRPr>
            </a:pPr>
            <a:r>
              <a:t>Charts: cross-corpus bars show mean change vs baseline averaged over all four documents. Tables pool metrics by genre (finance vs FDA labels). Colors: blue series = Δ context-hallucination flag; red = Δ answer correctness (negative values stay colored).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A — Cross-corpus change vs baseline</a:t>
            </a:r>
          </a:p>
          <a:p>
            <a:pPr>
              <a:defRPr sz="1400">
                <a:solidFill>
                  <a:srgbClr val="E2E8F0"/>
                </a:solidFill>
              </a:defRPr>
            </a:pPr>
            <a:r>
              <a:t>Same gold &amp; chunks; 4 corpora averaged (see CSV for min/max)</a:t>
            </a:r>
          </a:p>
        </p:txBody>
      </p:sp>
      <p:graphicFrame>
        <p:nvGraphicFramePr>
          <p:cNvPr id="3" name="Chart 2"/>
          <p:cNvGraphicFramePr>
            <a:graphicFrameLocks noGrp="1"/>
          </p:cNvGraphicFramePr>
          <p:nvPr/>
        </p:nvGraphicFramePr>
        <p:xfrm>
          <a:off x="502920" y="1234440"/>
          <a:ext cx="8229600" cy="4434840"/>
        </p:xfrm>
        <a:graphic>
          <a:graphicData uri="http://schemas.openxmlformats.org/drawingml/2006/chart">
            <c:chart xmlns:c="http://schemas.openxmlformats.org/drawingml/2006/chart" r:id="rId2"/>
          </a:graphicData>
        </a:graphic>
      </p:graphicFrame>
      <p:sp>
        <p:nvSpPr>
          <p:cNvPr id="4" name="TextBox 3"/>
          <p:cNvSpPr txBox="1"/>
          <p:nvPr/>
        </p:nvSpPr>
        <p:spPr>
          <a:xfrm>
            <a:off x="502920" y="5779008"/>
            <a:ext cx="8321040" cy="960120"/>
          </a:xfrm>
          <a:prstGeom prst="rect">
            <a:avLst/>
          </a:prstGeom>
          <a:noFill/>
        </p:spPr>
        <p:txBody>
          <a:bodyPr wrap="square">
            <a:spAutoFit/>
          </a:bodyPr>
          <a:lstStyle/>
          <a:p>
            <a:pPr>
              <a:spcAft>
                <a:spcPts val="600"/>
              </a:spcAft>
              <a:defRPr sz="1000">
                <a:solidFill>
                  <a:srgbClr val="4A5568"/>
                </a:solidFill>
              </a:defRPr>
            </a:pPr>
            <a:r>
              <a:t>Blue columns = Δ context-hallucination flag (lower is better). Red = Δ answer correctness (higher is better). Colors stay blue/red even when Δ is negative.</a:t>
            </a:r>
          </a:p>
          <a:p>
            <a:pPr>
              <a:spcAft>
                <a:spcPts val="600"/>
              </a:spcAft>
              <a:defRPr sz="1000">
                <a:solidFill>
                  <a:srgbClr val="4A5568"/>
                </a:solidFill>
              </a:defRPr>
            </a:pPr>
            <a:r>
              <a:t>Pattern: k3 shows the largest average reduction in the hallucination flag vs baseline; k8+CoT shows the largest average gain in correctness but also increases the hallucination flag on average—a tradeoff.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A — Pooled means (by genre)</a:t>
            </a:r>
          </a:p>
          <a:p>
            <a:pPr>
              <a:defRPr sz="1400">
                <a:solidFill>
                  <a:srgbClr val="E2E8F0"/>
                </a:solidFill>
              </a:defRPr>
            </a:pPr>
            <a:r>
              <a:t>FDA labels vs 10-Ks — baseline, k3, k8+CoT</a:t>
            </a:r>
          </a:p>
        </p:txBody>
      </p:sp>
      <p:graphicFrame>
        <p:nvGraphicFramePr>
          <p:cNvPr id="3" name="Table 2"/>
          <p:cNvGraphicFramePr>
            <a:graphicFrameLocks noGrp="1"/>
          </p:cNvGraphicFramePr>
          <p:nvPr/>
        </p:nvGraphicFramePr>
        <p:xfrm>
          <a:off x="548640" y="1234440"/>
          <a:ext cx="8229600" cy="2688336"/>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384048">
                <a:tc>
                  <a:txBody>
                    <a:bodyPr/>
                    <a:lstStyle/>
                    <a:p>
                      <a:pPr>
                        <a:defRPr sz="1100" b="1">
                          <a:solidFill>
                            <a:srgbClr val="FFFFFF"/>
                          </a:solidFill>
                        </a:defRPr>
                      </a:pPr>
                      <a:r>
                        <a:t>genre</a:t>
                      </a:r>
                    </a:p>
                  </a:txBody>
                  <a:tcPr>
                    <a:solidFill>
                      <a:srgbClr val="1E3A5F"/>
                    </a:solidFill>
                  </a:tcPr>
                </a:tc>
                <a:tc>
                  <a:txBody>
                    <a:bodyPr/>
                    <a:lstStyle/>
                    <a:p>
                      <a:pPr>
                        <a:defRPr sz="1100" b="1">
                          <a:solidFill>
                            <a:srgbClr val="FFFFFF"/>
                          </a:solidFill>
                        </a:defRPr>
                      </a:pPr>
                      <a:r>
                        <a:t>experiment</a:t>
                      </a:r>
                    </a:p>
                  </a:txBody>
                  <a:tcPr>
                    <a:solidFill>
                      <a:srgbClr val="1E3A5F"/>
                    </a:solidFill>
                  </a:tcPr>
                </a:tc>
                <a:tc>
                  <a:txBody>
                    <a:bodyPr/>
                    <a:lstStyle/>
                    <a:p>
                      <a:pPr>
                        <a:defRPr sz="1100" b="1">
                          <a:solidFill>
                            <a:srgbClr val="FFFFFF"/>
                          </a:solidFill>
                        </a:defRPr>
                      </a:pPr>
                      <a:r>
                        <a:t>recall at 5</a:t>
                      </a:r>
                    </a:p>
                  </a:txBody>
                  <a:tcPr>
                    <a:solidFill>
                      <a:srgbClr val="1E3A5F"/>
                    </a:solidFill>
                  </a:tcPr>
                </a:tc>
                <a:tc>
                  <a:txBody>
                    <a:bodyPr/>
                    <a:lstStyle/>
                    <a:p>
                      <a:pPr>
                        <a:defRPr sz="1100" b="1">
                          <a:solidFill>
                            <a:srgbClr val="FFFFFF"/>
                          </a:solidFill>
                        </a:defRPr>
                      </a:pPr>
                      <a:r>
                        <a:t>context hallucination</a:t>
                      </a:r>
                    </a:p>
                  </a:txBody>
                  <a:tcPr>
                    <a:solidFill>
                      <a:srgbClr val="1E3A5F"/>
                    </a:solidFill>
                  </a:tcPr>
                </a:tc>
                <a:tc>
                  <a:txBody>
                    <a:bodyPr/>
                    <a:lstStyle/>
                    <a:p>
                      <a:pPr>
                        <a:defRPr sz="1100" b="1">
                          <a:solidFill>
                            <a:srgbClr val="FFFFFF"/>
                          </a:solidFill>
                        </a:defRPr>
                      </a:pPr>
                      <a:r>
                        <a:t>answer correctness</a:t>
                      </a:r>
                    </a:p>
                  </a:txBody>
                  <a:tcPr>
                    <a:solidFill>
                      <a:srgbClr val="1E3A5F"/>
                    </a:solidFill>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baseline</a:t>
                      </a:r>
                    </a:p>
                  </a:txBody>
                  <a:tcPr/>
                </a:tc>
                <a:tc>
                  <a:txBody>
                    <a:bodyPr/>
                    <a:lstStyle/>
                    <a:p>
                      <a:pPr>
                        <a:defRPr sz="1100">
                          <a:solidFill>
                            <a:srgbClr val="4A5568"/>
                          </a:solidFill>
                        </a:defRPr>
                      </a:pPr>
                      <a:r>
                        <a:t>0.650</a:t>
                      </a:r>
                    </a:p>
                  </a:txBody>
                  <a:tcPr/>
                </a:tc>
                <a:tc>
                  <a:txBody>
                    <a:bodyPr/>
                    <a:lstStyle/>
                    <a:p>
                      <a:pPr>
                        <a:defRPr sz="1100">
                          <a:solidFill>
                            <a:srgbClr val="4A5568"/>
                          </a:solidFill>
                        </a:defRPr>
                      </a:pPr>
                      <a:r>
                        <a:t>0.100</a:t>
                      </a:r>
                    </a:p>
                  </a:txBody>
                  <a:tcPr/>
                </a:tc>
                <a:tc>
                  <a:txBody>
                    <a:bodyPr/>
                    <a:lstStyle/>
                    <a:p>
                      <a:pPr>
                        <a:defRPr sz="1100">
                          <a:solidFill>
                            <a:srgbClr val="4A5568"/>
                          </a:solidFill>
                        </a:defRPr>
                      </a:pPr>
                      <a:r>
                        <a:t>0.668</a:t>
                      </a:r>
                    </a:p>
                  </a:txBody>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k3</a:t>
                      </a:r>
                    </a:p>
                  </a:txBody>
                  <a:tcPr/>
                </a:tc>
                <a:tc>
                  <a:txBody>
                    <a:bodyPr/>
                    <a:lstStyle/>
                    <a:p>
                      <a:pPr>
                        <a:defRPr sz="1100">
                          <a:solidFill>
                            <a:srgbClr val="4A5568"/>
                          </a:solidFill>
                        </a:defRPr>
                      </a:pPr>
                      <a:r>
                        <a:t>0.650</a:t>
                      </a:r>
                    </a:p>
                  </a:txBody>
                  <a:tcPr/>
                </a:tc>
                <a:tc>
                  <a:txBody>
                    <a:bodyPr/>
                    <a:lstStyle/>
                    <a:p>
                      <a:pPr>
                        <a:defRPr sz="1100">
                          <a:solidFill>
                            <a:srgbClr val="4A5568"/>
                          </a:solidFill>
                        </a:defRPr>
                      </a:pPr>
                      <a:r>
                        <a:t>0.000</a:t>
                      </a:r>
                    </a:p>
                  </a:txBody>
                  <a:tcPr/>
                </a:tc>
                <a:tc>
                  <a:txBody>
                    <a:bodyPr/>
                    <a:lstStyle/>
                    <a:p>
                      <a:pPr>
                        <a:defRPr sz="1100">
                          <a:solidFill>
                            <a:srgbClr val="4A5568"/>
                          </a:solidFill>
                        </a:defRPr>
                      </a:pPr>
                      <a:r>
                        <a:t>0.619</a:t>
                      </a:r>
                    </a:p>
                  </a:txBody>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k8_cot</a:t>
                      </a:r>
                    </a:p>
                  </a:txBody>
                  <a:tcPr/>
                </a:tc>
                <a:tc>
                  <a:txBody>
                    <a:bodyPr/>
                    <a:lstStyle/>
                    <a:p>
                      <a:pPr>
                        <a:defRPr sz="1100">
                          <a:solidFill>
                            <a:srgbClr val="4A5568"/>
                          </a:solidFill>
                        </a:defRPr>
                      </a:pPr>
                      <a:r>
                        <a:t>0.750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0.753</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baseline</a:t>
                      </a:r>
                    </a:p>
                  </a:txBody>
                  <a:tcPr/>
                </a:tc>
                <a:tc>
                  <a:txBody>
                    <a:bodyPr/>
                    <a:lstStyle/>
                    <a:p>
                      <a:pPr>
                        <a:defRPr sz="1100">
                          <a:solidFill>
                            <a:srgbClr val="4A5568"/>
                          </a:solidFill>
                        </a:defRPr>
                      </a:pPr>
                      <a:r>
                        <a:t>0.850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0.717</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k3</a:t>
                      </a:r>
                    </a:p>
                  </a:txBody>
                  <a:tcPr/>
                </a:tc>
                <a:tc>
                  <a:txBody>
                    <a:bodyPr/>
                    <a:lstStyle/>
                    <a:p>
                      <a:pPr>
                        <a:defRPr sz="1100">
                          <a:solidFill>
                            <a:srgbClr val="4A5568"/>
                          </a:solidFill>
                        </a:defRPr>
                      </a:pPr>
                      <a:r>
                        <a:t>0.800</a:t>
                      </a:r>
                    </a:p>
                  </a:txBody>
                  <a:tcPr/>
                </a:tc>
                <a:tc>
                  <a:txBody>
                    <a:bodyPr/>
                    <a:lstStyle/>
                    <a:p>
                      <a:pPr>
                        <a:defRPr sz="1100">
                          <a:solidFill>
                            <a:srgbClr val="4A5568"/>
                          </a:solidFill>
                        </a:defRPr>
                      </a:pPr>
                      <a:r>
                        <a:t>0.100</a:t>
                      </a:r>
                    </a:p>
                  </a:txBody>
                  <a:tcPr/>
                </a:tc>
                <a:tc>
                  <a:txBody>
                    <a:bodyPr/>
                    <a:lstStyle/>
                    <a:p>
                      <a:pPr>
                        <a:defRPr sz="1100">
                          <a:solidFill>
                            <a:srgbClr val="4A5568"/>
                          </a:solidFill>
                        </a:defRPr>
                      </a:pPr>
                      <a:r>
                        <a:t>0.716</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k8_cot</a:t>
                      </a:r>
                    </a:p>
                  </a:txBody>
                  <a:tcPr/>
                </a:tc>
                <a:tc>
                  <a:txBody>
                    <a:bodyPr/>
                    <a:lstStyle/>
                    <a:p>
                      <a:pPr>
                        <a:defRPr sz="1100">
                          <a:solidFill>
                            <a:srgbClr val="4A5568"/>
                          </a:solidFill>
                        </a:defRPr>
                      </a:pPr>
                      <a:r>
                        <a:t>0.900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0.684</a:t>
                      </a:r>
                    </a:p>
                  </a:txBody>
                  <a:tcPr/>
                </a:tc>
              </a:tr>
            </a:tbl>
          </a:graphicData>
        </a:graphic>
      </p:graphicFrame>
      <p:sp>
        <p:nvSpPr>
          <p:cNvPr id="4" name="TextBox 3"/>
          <p:cNvSpPr txBox="1"/>
          <p:nvPr/>
        </p:nvSpPr>
        <p:spPr>
          <a:xfrm>
            <a:off x="502920" y="5074920"/>
            <a:ext cx="8229600" cy="1371600"/>
          </a:xfrm>
          <a:prstGeom prst="rect">
            <a:avLst/>
          </a:prstGeom>
          <a:noFill/>
        </p:spPr>
        <p:txBody>
          <a:bodyPr wrap="square">
            <a:spAutoFit/>
          </a:bodyPr>
          <a:lstStyle/>
          <a:p>
            <a:pPr>
              <a:spcAft>
                <a:spcPts val="600"/>
              </a:spcAft>
              <a:defRPr sz="1200">
                <a:solidFill>
                  <a:srgbClr val="4A5568"/>
                </a:solidFill>
              </a:defRPr>
            </a:pPr>
            <a:r>
              <a:t>Finance: stronger recall@5 on these filings. Labels: different error profile — compare presets, not only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Genre contrast (Tier A baseline)</a:t>
            </a:r>
          </a:p>
          <a:p>
            <a:pPr>
              <a:defRPr sz="1400">
                <a:solidFill>
                  <a:srgbClr val="E2E8F0"/>
                </a:solidFill>
              </a:defRPr>
            </a:pPr>
            <a:r>
              <a:t>Same pipeline; different documents</a:t>
            </a:r>
          </a:p>
        </p:txBody>
      </p:sp>
      <p:graphicFrame>
        <p:nvGraphicFramePr>
          <p:cNvPr id="3" name="Chart 2"/>
          <p:cNvGraphicFramePr>
            <a:graphicFrameLocks noGrp="1"/>
          </p:cNvGraphicFramePr>
          <p:nvPr/>
        </p:nvGraphicFramePr>
        <p:xfrm>
          <a:off x="548640" y="1234440"/>
          <a:ext cx="8229600" cy="4480560"/>
        </p:xfrm>
        <a:graphic>
          <a:graphicData uri="http://schemas.openxmlformats.org/drawingml/2006/chart">
            <c:chart xmlns:c="http://schemas.openxmlformats.org/drawingml/2006/chart" r:id="rId2"/>
          </a:graphicData>
        </a:graphic>
      </p:graphicFrame>
      <p:sp>
        <p:nvSpPr>
          <p:cNvPr id="4" name="TextBox 3"/>
          <p:cNvSpPr txBox="1"/>
          <p:nvPr/>
        </p:nvSpPr>
        <p:spPr>
          <a:xfrm>
            <a:off x="502920" y="5897880"/>
            <a:ext cx="8229600" cy="685800"/>
          </a:xfrm>
          <a:prstGeom prst="rect">
            <a:avLst/>
          </a:prstGeom>
          <a:noFill/>
        </p:spPr>
        <p:txBody>
          <a:bodyPr wrap="square">
            <a:spAutoFit/>
          </a:bodyPr>
          <a:lstStyle/>
          <a:p>
            <a:pPr>
              <a:spcAft>
                <a:spcPts val="600"/>
              </a:spcAft>
              <a:defRPr sz="1100">
                <a:solidFill>
                  <a:srgbClr val="4A5568"/>
                </a:solidFill>
              </a:defRPr>
            </a:pPr>
            <a:r>
              <a:t>Context halluc. = fraction of questions with flagged unsupported content (judge). Lower is better.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B — Chunking presets (separate gold)</a:t>
            </a:r>
          </a:p>
          <a:p>
            <a:pPr>
              <a:defRPr sz="1400">
                <a:solidFill>
                  <a:srgbClr val="E2E8F0"/>
                </a:solidFill>
              </a:defRPr>
            </a:pPr>
            <a:r>
              <a:t>Compare within this tier only</a:t>
            </a:r>
          </a:p>
        </p:txBody>
      </p:sp>
      <p:graphicFrame>
        <p:nvGraphicFramePr>
          <p:cNvPr id="3" name="Table 2"/>
          <p:cNvGraphicFramePr>
            <a:graphicFrameLocks noGrp="1"/>
          </p:cNvGraphicFramePr>
          <p:nvPr/>
        </p:nvGraphicFramePr>
        <p:xfrm>
          <a:off x="502920" y="1207008"/>
          <a:ext cx="8321040" cy="2432304"/>
        </p:xfrm>
        <a:graphic>
          <a:graphicData uri="http://schemas.openxmlformats.org/drawingml/2006/table">
            <a:tbl>
              <a:tblPr firstRow="1" bandRow="1">
                <a:tableStyleId>{5C22544A-7EE6-4342-B048-85BDC9FD1C3A}</a:tableStyleId>
              </a:tblPr>
              <a:tblGrid>
                <a:gridCol w="1664208"/>
                <a:gridCol w="1664208"/>
                <a:gridCol w="1664208"/>
                <a:gridCol w="1664208"/>
                <a:gridCol w="1664208"/>
              </a:tblGrid>
              <a:tr h="347472">
                <a:tc>
                  <a:txBody>
                    <a:bodyPr/>
                    <a:lstStyle/>
                    <a:p>
                      <a:pPr>
                        <a:defRPr sz="1000" b="1">
                          <a:solidFill>
                            <a:srgbClr val="FFFFFF"/>
                          </a:solidFill>
                        </a:defRPr>
                      </a:pPr>
                      <a:r>
                        <a:t>genre</a:t>
                      </a:r>
                    </a:p>
                  </a:txBody>
                  <a:tcPr>
                    <a:solidFill>
                      <a:srgbClr val="2B7CA8"/>
                    </a:solidFill>
                  </a:tcPr>
                </a:tc>
                <a:tc>
                  <a:txBody>
                    <a:bodyPr/>
                    <a:lstStyle/>
                    <a:p>
                      <a:pPr>
                        <a:defRPr sz="1000" b="1">
                          <a:solidFill>
                            <a:srgbClr val="FFFFFF"/>
                          </a:solidFill>
                        </a:defRPr>
                      </a:pPr>
                      <a:r>
                        <a:t>experiment</a:t>
                      </a:r>
                    </a:p>
                  </a:txBody>
                  <a:tcPr>
                    <a:solidFill>
                      <a:srgbClr val="2B7CA8"/>
                    </a:solidFill>
                  </a:tcPr>
                </a:tc>
                <a:tc>
                  <a:txBody>
                    <a:bodyPr/>
                    <a:lstStyle/>
                    <a:p>
                      <a:pPr>
                        <a:defRPr sz="1000" b="1">
                          <a:solidFill>
                            <a:srgbClr val="FFFFFF"/>
                          </a:solidFill>
                        </a:defRPr>
                      </a:pPr>
                      <a:r>
                        <a:t>context hallucination</a:t>
                      </a:r>
                    </a:p>
                  </a:txBody>
                  <a:tcPr>
                    <a:solidFill>
                      <a:srgbClr val="2B7CA8"/>
                    </a:solidFill>
                  </a:tcPr>
                </a:tc>
                <a:tc>
                  <a:txBody>
                    <a:bodyPr/>
                    <a:lstStyle/>
                    <a:p>
                      <a:pPr>
                        <a:defRPr sz="1000" b="1">
                          <a:solidFill>
                            <a:srgbClr val="FFFFFF"/>
                          </a:solidFill>
                        </a:defRPr>
                      </a:pPr>
                      <a:r>
                        <a:t>answer correctness</a:t>
                      </a:r>
                    </a:p>
                  </a:txBody>
                  <a:tcPr>
                    <a:solidFill>
                      <a:srgbClr val="2B7CA8"/>
                    </a:solidFill>
                  </a:tcPr>
                </a:tc>
                <a:tc>
                  <a:txBody>
                    <a:bodyPr/>
                    <a:lstStyle/>
                    <a:p>
                      <a:pPr>
                        <a:defRPr sz="1000" b="1">
                          <a:solidFill>
                            <a:srgbClr val="FFFFFF"/>
                          </a:solidFill>
                        </a:defRPr>
                      </a:pPr>
                      <a:r>
                        <a:t>faithfulness</a:t>
                      </a:r>
                    </a:p>
                  </a:txBody>
                  <a:tcPr>
                    <a:solidFill>
                      <a:srgbClr val="2B7CA8"/>
                    </a:solidFill>
                  </a:tcPr>
                </a:tc>
              </a:tr>
              <a:tr h="347472">
                <a:tc>
                  <a:txBody>
                    <a:bodyPr/>
                    <a:lstStyle/>
                    <a:p>
                      <a:pPr>
                        <a:defRPr sz="1000"/>
                      </a:pPr>
                      <a:r>
                        <a:t>fda_label</a:t>
                      </a:r>
                    </a:p>
                  </a:txBody>
                  <a:tcPr/>
                </a:tc>
                <a:tc>
                  <a:txBody>
                    <a:bodyPr/>
                    <a:lstStyle/>
                    <a:p>
                      <a:pPr>
                        <a:defRPr sz="1000"/>
                      </a:pPr>
                      <a:r>
                        <a:t>coarse_chunks</a:t>
                      </a:r>
                    </a:p>
                  </a:txBody>
                  <a:tcPr/>
                </a:tc>
                <a:tc>
                  <a:txBody>
                    <a:bodyPr/>
                    <a:lstStyle/>
                    <a:p>
                      <a:pPr>
                        <a:defRPr sz="1000"/>
                      </a:pPr>
                      <a:r>
                        <a:t>0.100</a:t>
                      </a:r>
                    </a:p>
                  </a:txBody>
                  <a:tcPr/>
                </a:tc>
                <a:tc>
                  <a:txBody>
                    <a:bodyPr/>
                    <a:lstStyle/>
                    <a:p>
                      <a:pPr>
                        <a:defRPr sz="1000"/>
                      </a:pPr>
                      <a:r>
                        <a:t>0.740</a:t>
                      </a:r>
                    </a:p>
                  </a:txBody>
                  <a:tcPr/>
                </a:tc>
                <a:tc>
                  <a:txBody>
                    <a:bodyPr/>
                    <a:lstStyle/>
                    <a:p>
                      <a:pPr>
                        <a:defRPr sz="1000"/>
                      </a:pPr>
                      <a:r>
                        <a:t>0.805</a:t>
                      </a:r>
                    </a:p>
                  </a:txBody>
                  <a:tcPr/>
                </a:tc>
              </a:tr>
              <a:tr h="347472">
                <a:tc>
                  <a:txBody>
                    <a:bodyPr/>
                    <a:lstStyle/>
                    <a:p>
                      <a:pPr>
                        <a:defRPr sz="1000"/>
                      </a:pPr>
                      <a:r>
                        <a:t>fda_label</a:t>
                      </a:r>
                    </a:p>
                  </a:txBody>
                  <a:tcPr/>
                </a:tc>
                <a:tc>
                  <a:txBody>
                    <a:bodyPr/>
                    <a:lstStyle/>
                    <a:p>
                      <a:pPr>
                        <a:defRPr sz="1000"/>
                      </a:pPr>
                      <a:r>
                        <a:t>deep_headers_fine</a:t>
                      </a:r>
                    </a:p>
                  </a:txBody>
                  <a:tcPr/>
                </a:tc>
                <a:tc>
                  <a:txBody>
                    <a:bodyPr/>
                    <a:lstStyle/>
                    <a:p>
                      <a:pPr>
                        <a:defRPr sz="1000"/>
                      </a:pPr>
                      <a:r>
                        <a:t>0.100</a:t>
                      </a:r>
                    </a:p>
                  </a:txBody>
                  <a:tcPr/>
                </a:tc>
                <a:tc>
                  <a:txBody>
                    <a:bodyPr/>
                    <a:lstStyle/>
                    <a:p>
                      <a:pPr>
                        <a:defRPr sz="1000"/>
                      </a:pPr>
                      <a:r>
                        <a:t>0.566</a:t>
                      </a:r>
                    </a:p>
                  </a:txBody>
                  <a:tcPr/>
                </a:tc>
                <a:tc>
                  <a:txBody>
                    <a:bodyPr/>
                    <a:lstStyle/>
                    <a:p>
                      <a:pPr>
                        <a:defRPr sz="1000"/>
                      </a:pPr>
                      <a:r>
                        <a:t>0.800</a:t>
                      </a:r>
                    </a:p>
                  </a:txBody>
                  <a:tcPr/>
                </a:tc>
              </a:tr>
              <a:tr h="347472">
                <a:tc>
                  <a:txBody>
                    <a:bodyPr/>
                    <a:lstStyle/>
                    <a:p>
                      <a:pPr>
                        <a:defRPr sz="1000"/>
                      </a:pPr>
                      <a:r>
                        <a:t>fda_label</a:t>
                      </a:r>
                    </a:p>
                  </a:txBody>
                  <a:tcPr/>
                </a:tc>
                <a:tc>
                  <a:txBody>
                    <a:bodyPr/>
                    <a:lstStyle/>
                    <a:p>
                      <a:pPr>
                        <a:defRPr sz="1000"/>
                      </a:pPr>
                      <a:r>
                        <a:t>fine_chunks</a:t>
                      </a:r>
                    </a:p>
                  </a:txBody>
                  <a:tcPr/>
                </a:tc>
                <a:tc>
                  <a:txBody>
                    <a:bodyPr/>
                    <a:lstStyle/>
                    <a:p>
                      <a:pPr>
                        <a:defRPr sz="1000"/>
                      </a:pPr>
                      <a:r>
                        <a:t>0.000</a:t>
                      </a:r>
                    </a:p>
                  </a:txBody>
                  <a:tcPr/>
                </a:tc>
                <a:tc>
                  <a:txBody>
                    <a:bodyPr/>
                    <a:lstStyle/>
                    <a:p>
                      <a:pPr>
                        <a:defRPr sz="1000"/>
                      </a:pPr>
                      <a:r>
                        <a:t>0.551</a:t>
                      </a:r>
                    </a:p>
                  </a:txBody>
                  <a:tcPr/>
                </a:tc>
                <a:tc>
                  <a:txBody>
                    <a:bodyPr/>
                    <a:lstStyle/>
                    <a:p>
                      <a:pPr>
                        <a:defRPr sz="1000"/>
                      </a:pPr>
                      <a:r>
                        <a:t>0.738</a:t>
                      </a:r>
                    </a:p>
                  </a:txBody>
                  <a:tcPr/>
                </a:tc>
              </a:tr>
              <a:tr h="347472">
                <a:tc>
                  <a:txBody>
                    <a:bodyPr/>
                    <a:lstStyle/>
                    <a:p>
                      <a:pPr>
                        <a:defRPr sz="1000"/>
                      </a:pPr>
                      <a:r>
                        <a:t>finance_10k</a:t>
                      </a:r>
                    </a:p>
                  </a:txBody>
                  <a:tcPr/>
                </a:tc>
                <a:tc>
                  <a:txBody>
                    <a:bodyPr/>
                    <a:lstStyle/>
                    <a:p>
                      <a:pPr>
                        <a:defRPr sz="1000"/>
                      </a:pPr>
                      <a:r>
                        <a:t>coarse_chunks</a:t>
                      </a:r>
                    </a:p>
                  </a:txBody>
                  <a:tcPr/>
                </a:tc>
                <a:tc>
                  <a:txBody>
                    <a:bodyPr/>
                    <a:lstStyle/>
                    <a:p>
                      <a:pPr>
                        <a:defRPr sz="1000"/>
                      </a:pPr>
                      <a:r>
                        <a:t>0.250</a:t>
                      </a:r>
                    </a:p>
                  </a:txBody>
                  <a:tcPr/>
                </a:tc>
                <a:tc>
                  <a:txBody>
                    <a:bodyPr/>
                    <a:lstStyle/>
                    <a:p>
                      <a:pPr>
                        <a:defRPr sz="1000"/>
                      </a:pPr>
                      <a:r>
                        <a:t>0.809</a:t>
                      </a:r>
                    </a:p>
                  </a:txBody>
                  <a:tcPr/>
                </a:tc>
                <a:tc>
                  <a:txBody>
                    <a:bodyPr/>
                    <a:lstStyle/>
                    <a:p>
                      <a:pPr>
                        <a:defRPr sz="1000"/>
                      </a:pPr>
                      <a:r>
                        <a:t>0.841</a:t>
                      </a:r>
                    </a:p>
                  </a:txBody>
                  <a:tcPr/>
                </a:tc>
              </a:tr>
              <a:tr h="347472">
                <a:tc>
                  <a:txBody>
                    <a:bodyPr/>
                    <a:lstStyle/>
                    <a:p>
                      <a:pPr>
                        <a:defRPr sz="1000"/>
                      </a:pPr>
                      <a:r>
                        <a:t>finance_10k</a:t>
                      </a:r>
                    </a:p>
                  </a:txBody>
                  <a:tcPr/>
                </a:tc>
                <a:tc>
                  <a:txBody>
                    <a:bodyPr/>
                    <a:lstStyle/>
                    <a:p>
                      <a:pPr>
                        <a:defRPr sz="1000"/>
                      </a:pPr>
                      <a:r>
                        <a:t>deep_headers_fine</a:t>
                      </a:r>
                    </a:p>
                  </a:txBody>
                  <a:tcPr/>
                </a:tc>
                <a:tc>
                  <a:txBody>
                    <a:bodyPr/>
                    <a:lstStyle/>
                    <a:p>
                      <a:pPr>
                        <a:defRPr sz="1000"/>
                      </a:pPr>
                      <a:r>
                        <a:t>0.050</a:t>
                      </a:r>
                    </a:p>
                  </a:txBody>
                  <a:tcPr/>
                </a:tc>
                <a:tc>
                  <a:txBody>
                    <a:bodyPr/>
                    <a:lstStyle/>
                    <a:p>
                      <a:pPr>
                        <a:defRPr sz="1000"/>
                      </a:pPr>
                      <a:r>
                        <a:t>0.693</a:t>
                      </a:r>
                    </a:p>
                  </a:txBody>
                  <a:tcPr/>
                </a:tc>
                <a:tc>
                  <a:txBody>
                    <a:bodyPr/>
                    <a:lstStyle/>
                    <a:p>
                      <a:pPr>
                        <a:defRPr sz="1000"/>
                      </a:pPr>
                      <a:r>
                        <a:t>0.721</a:t>
                      </a:r>
                    </a:p>
                  </a:txBody>
                  <a:tcPr/>
                </a:tc>
              </a:tr>
              <a:tr h="347472">
                <a:tc>
                  <a:txBody>
                    <a:bodyPr/>
                    <a:lstStyle/>
                    <a:p>
                      <a:pPr>
                        <a:defRPr sz="1000"/>
                      </a:pPr>
                      <a:r>
                        <a:t>finance_10k</a:t>
                      </a:r>
                    </a:p>
                  </a:txBody>
                  <a:tcPr/>
                </a:tc>
                <a:tc>
                  <a:txBody>
                    <a:bodyPr/>
                    <a:lstStyle/>
                    <a:p>
                      <a:pPr>
                        <a:defRPr sz="1000"/>
                      </a:pPr>
                      <a:r>
                        <a:t>fine_chunks</a:t>
                      </a:r>
                    </a:p>
                  </a:txBody>
                  <a:tcPr/>
                </a:tc>
                <a:tc>
                  <a:txBody>
                    <a:bodyPr/>
                    <a:lstStyle/>
                    <a:p>
                      <a:pPr>
                        <a:defRPr sz="1000"/>
                      </a:pPr>
                      <a:r>
                        <a:t>0.050</a:t>
                      </a:r>
                    </a:p>
                  </a:txBody>
                  <a:tcPr/>
                </a:tc>
                <a:tc>
                  <a:txBody>
                    <a:bodyPr/>
                    <a:lstStyle/>
                    <a:p>
                      <a:pPr>
                        <a:defRPr sz="1000"/>
                      </a:pPr>
                      <a:r>
                        <a:t>0.835</a:t>
                      </a:r>
                    </a:p>
                  </a:txBody>
                  <a:tcPr/>
                </a:tc>
                <a:tc>
                  <a:txBody>
                    <a:bodyPr/>
                    <a:lstStyle/>
                    <a:p>
                      <a:pPr>
                        <a:defRPr sz="1000"/>
                      </a:pPr>
                      <a:r>
                        <a:t>0.963</a:t>
                      </a:r>
                    </a:p>
                  </a:txBody>
                  <a:tcPr/>
                </a:tc>
              </a:tr>
            </a:tbl>
          </a:graphicData>
        </a:graphic>
      </p:graphicFrame>
      <p:sp>
        <p:nvSpPr>
          <p:cNvPr id="4" name="TextBox 3"/>
          <p:cNvSpPr txBox="1"/>
          <p:nvPr/>
        </p:nvSpPr>
        <p:spPr>
          <a:xfrm>
            <a:off x="502920" y="4160520"/>
            <a:ext cx="8229600" cy="2286000"/>
          </a:xfrm>
          <a:prstGeom prst="rect">
            <a:avLst/>
          </a:prstGeom>
          <a:noFill/>
        </p:spPr>
        <p:txBody>
          <a:bodyPr wrap="square">
            <a:spAutoFit/>
          </a:bodyPr>
          <a:lstStyle/>
          <a:p>
            <a:pPr>
              <a:spcAft>
                <a:spcPts val="600"/>
              </a:spcAft>
              <a:defRPr sz="1300">
                <a:solidFill>
                  <a:srgbClr val="4A5568"/>
                </a:solidFill>
              </a:defRPr>
            </a:pPr>
            <a:r>
              <a:t>Each preset re-chunks + regenerates Q/A — not comparable to Tier A deltas.</a:t>
            </a:r>
          </a:p>
          <a:p>
            <a:pPr>
              <a:spcAft>
                <a:spcPts val="600"/>
              </a:spcAft>
              <a:defRPr sz="1300">
                <a:solidFill>
                  <a:srgbClr val="4A5568"/>
                </a:solidFill>
              </a:defRPr>
            </a:pPr>
            <a:r>
              <a:t>Use for chunking strategy exploration; confirm with larger 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Design takeaway — answering the core questions</a:t>
            </a:r>
          </a:p>
          <a:p>
            <a:pPr>
              <a:defRPr sz="1400">
                <a:solidFill>
                  <a:srgbClr val="E2E8F0"/>
                </a:solidFill>
              </a:defRPr>
            </a:pPr>
            <a:r>
              <a:t>What the data suggests for practitioners</a:t>
            </a:r>
          </a:p>
        </p:txBody>
      </p:sp>
      <p:sp>
        <p:nvSpPr>
          <p:cNvPr id="3" name="Oval 2"/>
          <p:cNvSpPr/>
          <p:nvPr/>
        </p:nvSpPr>
        <p:spPr>
          <a:xfrm>
            <a:off x="777240" y="1261872"/>
            <a:ext cx="1600200" cy="1600200"/>
          </a:xfrm>
          <a:prstGeom prst="ellipse">
            <a:avLst/>
          </a:prstGeom>
          <a:solidFill>
            <a:srgbClr val="2B7CA8"/>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Retrieval (k)</a:t>
            </a:r>
          </a:p>
        </p:txBody>
      </p:sp>
      <p:sp>
        <p:nvSpPr>
          <p:cNvPr id="4" name="Oval 3"/>
          <p:cNvSpPr/>
          <p:nvPr/>
        </p:nvSpPr>
        <p:spPr>
          <a:xfrm>
            <a:off x="3383280" y="1261872"/>
            <a:ext cx="1600200" cy="1600200"/>
          </a:xfrm>
          <a:prstGeom prst="ellipse">
            <a:avLst/>
          </a:prstGeom>
          <a:solidFill>
            <a:srgbClr val="1E3A5F"/>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Prompting (CoT)</a:t>
            </a:r>
          </a:p>
        </p:txBody>
      </p:sp>
      <p:sp>
        <p:nvSpPr>
          <p:cNvPr id="5" name="Oval 4"/>
          <p:cNvSpPr/>
          <p:nvPr/>
        </p:nvSpPr>
        <p:spPr>
          <a:xfrm>
            <a:off x="5989320" y="1261872"/>
            <a:ext cx="1600200" cy="1600200"/>
          </a:xfrm>
          <a:prstGeom prst="ellipse">
            <a:avLst/>
          </a:prstGeom>
          <a:solidFill>
            <a:srgbClr val="276F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Strict cites</a:t>
            </a:r>
          </a:p>
        </p:txBody>
      </p:sp>
      <p:sp>
        <p:nvSpPr>
          <p:cNvPr id="6" name="TextBox 5"/>
          <p:cNvSpPr txBox="1"/>
          <p:nvPr/>
        </p:nvSpPr>
        <p:spPr>
          <a:xfrm>
            <a:off x="594360" y="3063240"/>
            <a:ext cx="8092440" cy="3520440"/>
          </a:xfrm>
          <a:prstGeom prst="rect">
            <a:avLst/>
          </a:prstGeom>
          <a:noFill/>
        </p:spPr>
        <p:txBody>
          <a:bodyPr wrap="square">
            <a:spAutoFit/>
          </a:bodyPr>
          <a:lstStyle/>
          <a:p>
            <a:pPr>
              <a:spcAft>
                <a:spcPts val="600"/>
              </a:spcAft>
              <a:defRPr sz="1200">
                <a:solidFill>
                  <a:srgbClr val="4A5568"/>
                </a:solidFill>
              </a:defRPr>
            </a:pPr>
            <a:r>
              <a:t>Fundamental question: which RAG design best reduces hallucinations for professional use? On average across four corpora, k=3 (narrower retrieval) delivered the largest reduction in the context-grounded hallucination flag vs baseline—suggesting smaller top-k can reduce unsupported content when the right passages are still retrieved.</a:t>
            </a:r>
          </a:p>
          <a:p>
            <a:pPr>
              <a:spcAft>
                <a:spcPts val="600"/>
              </a:spcAft>
              <a:defRPr sz="1200">
                <a:solidFill>
                  <a:srgbClr val="4A5568"/>
                </a:solidFill>
              </a:defRPr>
            </a:pPr>
            <a:r>
              <a:t>Tradeoff: k8 + chain-of-thought delivered the largest average gain in answer correctness vs baseline, but also the largest average increase in the hallucination flag vs baseline. So “best for correctness” and “best for grounding” are not the same preset.</a:t>
            </a:r>
          </a:p>
          <a:p>
            <a:pPr>
              <a:spcAft>
                <a:spcPts val="600"/>
              </a:spcAft>
              <a:defRPr sz="1200">
                <a:solidFill>
                  <a:srgbClr val="4A5568"/>
                </a:solidFill>
              </a:defRPr>
            </a:pPr>
            <a:r>
              <a:t>Industry nuance: pooled 10-Ks showed higher recall@5 than pooled FDA labels in this setup—retrieval difficulty differs by genre. No single winner for both finance-style and label-style text; teams should pick metrics (grounding vs correctness vs abstention) first, then select a preset.</a:t>
            </a:r>
          </a:p>
          <a:p>
            <a:pPr>
              <a:spcAft>
                <a:spcPts val="600"/>
              </a:spcAft>
              <a:defRPr sz="1200">
                <a:solidFill>
                  <a:srgbClr val="4A5568"/>
                </a:solidFill>
              </a:defRPr>
            </a:pPr>
            <a:r>
              <a:t>Strict citation post-processing: near-zero average change in the hallucination flag in the aggregate, with a small average drop in correctness—consistent with more forced abstention when cites are imperfect.</a:t>
            </a:r>
          </a:p>
          <a:p>
            <a:pPr>
              <a:spcAft>
                <a:spcPts val="600"/>
              </a:spcAft>
              <a:defRPr sz="1200">
                <a:solidFill>
                  <a:srgbClr val="4A5568"/>
                </a:solidFill>
              </a:defRPr>
            </a:pPr>
            <a:r>
              <a:t>Tier B (chunking): compare chunk presets within that tier only; they use different gold questions—useful for chunking strategy, not for ranking against Tier A deltas.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Limitations &amp; next steps</a:t>
            </a:r>
          </a:p>
        </p:txBody>
      </p:sp>
      <p:sp>
        <p:nvSpPr>
          <p:cNvPr id="3" name="TextBox 2"/>
          <p:cNvSpPr txBox="1"/>
          <p:nvPr/>
        </p:nvSpPr>
        <p:spPr>
          <a:xfrm>
            <a:off x="685800" y="1325880"/>
            <a:ext cx="7772400" cy="5029200"/>
          </a:xfrm>
          <a:prstGeom prst="rect">
            <a:avLst/>
          </a:prstGeom>
          <a:noFill/>
        </p:spPr>
        <p:txBody>
          <a:bodyPr wrap="square">
            <a:spAutoFit/>
          </a:bodyPr>
          <a:lstStyle/>
          <a:p>
            <a:pPr>
              <a:spcAft>
                <a:spcPts val="600"/>
              </a:spcAft>
              <a:defRPr sz="1800">
                <a:solidFill>
                  <a:srgbClr val="4A5568"/>
                </a:solidFill>
              </a:defRPr>
            </a:pPr>
            <a:r>
              <a:t>n=10 questions / experiment — exploratory, not definitive.</a:t>
            </a:r>
          </a:p>
          <a:p>
            <a:pPr>
              <a:spcAft>
                <a:spcPts val="600"/>
              </a:spcAft>
              <a:defRPr sz="1800">
                <a:solidFill>
                  <a:srgbClr val="4A5568"/>
                </a:solidFill>
              </a:defRPr>
            </a:pPr>
            <a:r>
              <a:t>Four PDFs — illustrative genres, not all of finance or healthcare.</a:t>
            </a:r>
          </a:p>
          <a:p>
            <a:pPr>
              <a:spcAft>
                <a:spcPts val="600"/>
              </a:spcAft>
              <a:defRPr sz="1800">
                <a:solidFill>
                  <a:srgbClr val="4A5568"/>
                </a:solidFill>
              </a:defRPr>
            </a:pPr>
            <a:r>
              <a:t>LLM judges add variance; triangulate with rule-based metrics.</a:t>
            </a:r>
          </a:p>
          <a:p>
            <a:pPr>
              <a:spcAft>
                <a:spcPts val="600"/>
              </a:spcAft>
              <a:defRPr sz="1800">
                <a:solidFill>
                  <a:srgbClr val="4A5568"/>
                </a:solidFill>
              </a:defRPr>
            </a:pPr>
            <a:r>
              <a:t>Next: larger n, confidence intervals, more rerankers &amp; abstention policies.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Conclusion</a:t>
            </a:r>
          </a:p>
        </p:txBody>
      </p:sp>
      <p:sp>
        <p:nvSpPr>
          <p:cNvPr id="3" name="TextBox 2"/>
          <p:cNvSpPr txBox="1"/>
          <p:nvPr/>
        </p:nvSpPr>
        <p:spPr>
          <a:xfrm>
            <a:off x="777240" y="1417320"/>
            <a:ext cx="7589520" cy="4572000"/>
          </a:xfrm>
          <a:prstGeom prst="rect">
            <a:avLst/>
          </a:prstGeom>
          <a:noFill/>
        </p:spPr>
        <p:txBody>
          <a:bodyPr wrap="square">
            <a:spAutoFit/>
          </a:bodyPr>
          <a:lstStyle/>
          <a:p>
            <a:pPr>
              <a:spcAft>
                <a:spcPts val="600"/>
              </a:spcAft>
              <a:defRPr sz="2200">
                <a:solidFill>
                  <a:srgbClr val="1E3A5F"/>
                </a:solidFill>
              </a:defRPr>
            </a:pPr>
            <a:r>
              <a:t>RAG design choices shift grounding vs correctness — differently on 10-Ks vs FDA labels.</a:t>
            </a:r>
          </a:p>
          <a:p>
            <a:pPr>
              <a:spcAft>
                <a:spcPts val="600"/>
              </a:spcAft>
              <a:defRPr sz="2200">
                <a:solidFill>
                  <a:srgbClr val="1E3A5F"/>
                </a:solidFill>
              </a:defRPr>
            </a:pPr>
            <a:r>
              <a:t>Deliverable: reproducible pipeline + data-driven comparison tables for practitioners.</a:t>
            </a:r>
          </a:p>
          <a:p>
            <a:pPr>
              <a:spcAft>
                <a:spcPts val="600"/>
              </a:spcAft>
              <a:defRPr sz="2200">
                <a:solidFill>
                  <a:srgbClr val="1E3A5F"/>
                </a:solidFill>
              </a:defRPr>
            </a:pPr>
            <a: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